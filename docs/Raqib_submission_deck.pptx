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3" r:id="rId17"/>
    <p:sldId id="262" r:id="rId16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8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Relationship Id="rId16" Type="http://schemas.openxmlformats.org/officeDocument/2006/relationships/slide" Target="slides/slide7.xml"/><Relationship Id="rId17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sz="1343" b="0">
                <a:solidFill>
                  <a:srgbClr val="0F766E"/>
                </a:solidFill>
                <a:latin typeface="Manrope SemiBold"/>
              </a:rPr>
              <a:t> Problem 1 — Risk, Fraud and Regulatory Intelligence Copilot  ·  Raqib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itle"/>
          <p:cNvSpPr txBox="1"/>
          <p:nvPr/>
        </p:nvSpPr>
        <p:spPr>
          <a:xfrm>
            <a:off x="365760" y="621792"/>
            <a:ext cx="8412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B3D5C"/>
                </a:solidFill>
                <a:latin typeface="Arial"/>
              </a:rPr>
              <a:t>1 · Problem brief: financial-crime and risk work is manual and siloed</a:t>
            </a:r>
          </a:p>
        </p:txBody>
      </p:sp>
      <p:sp>
        <p:nvSpPr>
          <p:cNvPr id="65" name="Subtitle"/>
          <p:cNvSpPr txBox="1"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Banking &amp; NBFC (GCC) · AML/CFT, sanctions, fraud, Basel III liquidity, IFRS 9 credit risk</a:t>
            </a:r>
          </a:p>
        </p:txBody>
      </p:sp>
      <p:sp>
        <p:nvSpPr>
          <p:cNvPr id="66" name="Card Business problem"/>
          <p:cNvSpPr/>
          <p:nvPr/>
        </p:nvSpPr>
        <p:spPr>
          <a:xfrm>
            <a:off x="365760" y="1371600"/>
            <a:ext cx="3977639" cy="10698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1444752"/>
            <a:ext cx="374903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0F766E"/>
                </a:solidFill>
                <a:latin typeface="Arial"/>
              </a:rPr>
              <a:t>Business problem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1682496"/>
            <a:ext cx="3749039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Arial"/>
              </a:rPr>
              <a:t>Analysts triage monitoring alerts across core-banking screens, policy PDFs and spreadsheets, write every STR from scratch, and build LCR / NPL reporting in Excel. Decisions are slow, inconsistent and hard to evidence for the regulator.</a:t>
            </a:r>
          </a:p>
        </p:txBody>
      </p:sp>
      <p:sp>
        <p:nvSpPr>
          <p:cNvPr id="69" name="Card Target users"/>
          <p:cNvSpPr/>
          <p:nvPr/>
        </p:nvSpPr>
        <p:spPr>
          <a:xfrm>
            <a:off x="365760" y="2514600"/>
            <a:ext cx="3977639" cy="10698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2587752"/>
            <a:ext cx="374903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0F766E"/>
                </a:solidFill>
                <a:latin typeface="Arial"/>
              </a:rPr>
              <a:t>Target users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2825496"/>
            <a:ext cx="3749039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Arial"/>
              </a:rPr>
              <a:t>FCC analyst (triage and investigate) · MLRO (decide and file STRs) · Treasury / Risk (LCR, NPL) · Internal Audit and Model Risk (oversight).</a:t>
            </a:r>
          </a:p>
        </p:txBody>
      </p:sp>
      <p:sp>
        <p:nvSpPr>
          <p:cNvPr id="72" name="Card Industry context"/>
          <p:cNvSpPr/>
          <p:nvPr/>
        </p:nvSpPr>
        <p:spPr>
          <a:xfrm>
            <a:off x="365760" y="3657600"/>
            <a:ext cx="3977639" cy="10698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3730752"/>
            <a:ext cx="374903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0F766E"/>
                </a:solidFill>
                <a:latin typeface="Arial"/>
              </a:rPr>
              <a:t>Industry context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3968496"/>
            <a:ext cx="3749039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0F172A"/>
                </a:solidFill>
                <a:latin typeface="Arial"/>
              </a:rPr>
              <a:t>UAE AML/CFT framework (Federal Decree-Law 20/2018), goAML STR filing, tipping-off prohibition, internal AED 55,000 cash threshold, Basel III LCR ≥ 100%, IFRS 9 staging.</a:t>
            </a:r>
          </a:p>
        </p:txBody>
      </p:sp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4526280" y="1371600"/>
          <a:ext cx="4251960" cy="335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554480"/>
                <a:gridCol w="1737360"/>
              </a:tblGrid>
              <a:tr h="5593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Job</a:t>
                      </a:r>
                    </a:p>
                  </a:txBody>
                  <a:tcPr marL="54864" marR="54864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Today</a:t>
                      </a:r>
                    </a:p>
                  </a:txBody>
                  <a:tcPr marL="54864" marR="54864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With Raqib</a:t>
                      </a:r>
                    </a:p>
                  </a:txBody>
                  <a:tcPr marL="54864" marR="54864">
                    <a:solidFill>
                      <a:srgbClr val="0B3D5C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Alert triage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5+ systems; policy looked up by hand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766E"/>
                          </a:solidFill>
                          <a:latin typeface="Arial"/>
                        </a:rPr>
                        <a:t>One evidence view + the governing clause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Explain a risk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Analyst writes SQL or raises a ticket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766E"/>
                          </a:solidFill>
                          <a:latin typeface="Arial"/>
                        </a:rPr>
                        <a:t>Plain-English question → governed answer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STR drafting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Written from scratch each time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766E"/>
                          </a:solidFill>
                          <a:latin typeface="Arial"/>
                        </a:rPr>
                        <a:t>Cited draft, amounts verified in code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LCR / NPL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Excel pack, days later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766E"/>
                          </a:solidFill>
                          <a:latin typeface="Arial"/>
                        </a:rPr>
                        <a:t>Live LCR trigger + NPL by sector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</a:tr>
              <a:tr h="5593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Audit trail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Emails and spreadsheets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766E"/>
                          </a:solidFill>
                          <a:latin typeface="Arial"/>
                        </a:rPr>
                        <a:t>Every question and tool action logged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itle"/>
          <p:cNvSpPr txBox="1"/>
          <p:nvPr/>
        </p:nvSpPr>
        <p:spPr>
          <a:xfrm>
            <a:off x="365760" y="621792"/>
            <a:ext cx="8412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B3D5C"/>
                </a:solidFill>
                <a:latin typeface="Arial"/>
              </a:rPr>
              <a:t>2 · Architecture: one governed platform, end to end</a:t>
            </a:r>
          </a:p>
        </p:txBody>
      </p:sp>
      <p:pic>
        <p:nvPicPr>
          <p:cNvPr id="71" name="Picture 70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824" y="1060704"/>
            <a:ext cx="6372352" cy="3584448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72" name="TextBox 71"/>
          <p:cNvSpPr txBox="1"/>
          <p:nvPr/>
        </p:nvSpPr>
        <p:spPr>
          <a:xfrm>
            <a:off x="365760" y="4663440"/>
            <a:ext cx="84124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475569"/>
                </a:solidFill>
                <a:latin typeface="Arial"/>
              </a:rPr>
              <a:t>Data: structured core banking, digital, treasury and credit tables + unstructured policy PDFs. CoCo skills: synthetic-banking-data → aml-investigation → regulatory-report-drafter → copilot-eval → alert-dispatch.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itle"/>
          <p:cNvSpPr txBox="1"/>
          <p:nvPr/>
        </p:nvSpPr>
        <p:spPr>
          <a:xfrm>
            <a:off x="365760" y="621792"/>
            <a:ext cx="8412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B3D5C"/>
                </a:solidFill>
                <a:latin typeface="Arial"/>
              </a:rPr>
              <a:t>3 · Impact: measured on the synthetic bank, built to scale</a:t>
            </a:r>
          </a:p>
        </p:txBody>
      </p:sp>
      <p:sp>
        <p:nvSpPr>
          <p:cNvPr id="76" name="Subtitle"/>
          <p:cNvSpPr txBox="1"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Measured = from the repo's automated tests and eval. Business outcomes are estimates to validate in a pilot.</a:t>
            </a:r>
          </a:p>
        </p:txBody>
      </p:sp>
      <p:sp>
        <p:nvSpPr>
          <p:cNvPr id="77" name="Stat 100%"/>
          <p:cNvSpPr/>
          <p:nvPr/>
        </p:nvSpPr>
        <p:spPr>
          <a:xfrm>
            <a:off x="365760" y="1371600"/>
            <a:ext cx="1984248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5488" y="1444752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0F766E"/>
                </a:solidFill>
                <a:latin typeface="Arial"/>
              </a:rPr>
              <a:t>100%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5488" y="1965960"/>
            <a:ext cx="1783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0F172A"/>
                </a:solidFill>
                <a:latin typeface="Arial"/>
              </a:rPr>
              <a:t>recall on 42 planted
typology scenarios (8 rules)</a:t>
            </a:r>
          </a:p>
        </p:txBody>
      </p:sp>
      <p:sp>
        <p:nvSpPr>
          <p:cNvPr id="80" name="Stat ≤ 12"/>
          <p:cNvSpPr/>
          <p:nvPr/>
        </p:nvSpPr>
        <p:spPr>
          <a:xfrm>
            <a:off x="2505456" y="1371600"/>
            <a:ext cx="1984248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15184" y="1444752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0F766E"/>
                </a:solidFill>
                <a:latin typeface="Arial"/>
              </a:rPr>
              <a:t>≤ 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15184" y="1965960"/>
            <a:ext cx="1783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0F172A"/>
                </a:solidFill>
                <a:latin typeface="Arial"/>
              </a:rPr>
              <a:t>false-positive alerts per
rule on 2,150 customers</a:t>
            </a:r>
          </a:p>
        </p:txBody>
      </p:sp>
      <p:sp>
        <p:nvSpPr>
          <p:cNvPr id="83" name="Stat 10 / 10"/>
          <p:cNvSpPr/>
          <p:nvPr/>
        </p:nvSpPr>
        <p:spPr>
          <a:xfrm>
            <a:off x="4645152" y="1371600"/>
            <a:ext cx="1984248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54880" y="1444752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0F766E"/>
                </a:solidFill>
                <a:latin typeface="Arial"/>
              </a:rPr>
              <a:t>10 / 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54880" y="1965960"/>
            <a:ext cx="1783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0F172A"/>
                </a:solidFill>
                <a:latin typeface="Arial"/>
              </a:rPr>
              <a:t>golden copilot questions
passed (incl. guardrails)</a:t>
            </a:r>
          </a:p>
        </p:txBody>
      </p:sp>
      <p:sp>
        <p:nvSpPr>
          <p:cNvPr id="86" name="Stat 3 / 3"/>
          <p:cNvSpPr/>
          <p:nvPr/>
        </p:nvSpPr>
        <p:spPr>
          <a:xfrm>
            <a:off x="6784848" y="1371600"/>
            <a:ext cx="1984248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94576" y="1444752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0F766E"/>
                </a:solidFill>
                <a:latin typeface="Arial"/>
              </a:rPr>
              <a:t>3 / 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94576" y="1965960"/>
            <a:ext cx="1783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0F172A"/>
                </a:solidFill>
                <a:latin typeface="Arial"/>
              </a:rPr>
              <a:t>hallucination, tipping-off and
unauthorised filing blocked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" y="2743200"/>
            <a:ext cx="4069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B3D5C"/>
                </a:solidFill>
                <a:latin typeface="Arial"/>
              </a:rPr>
              <a:t>Expected outcomes (estimates)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5760" y="3035808"/>
            <a:ext cx="406908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18872">
              <a:spcAft>
                <a:spcPts val="300"/>
              </a:spcAft>
              <a:buChar char="•"/>
            </a:pPr>
            <a:r>
              <a:rPr sz="1000" b="0">
                <a:solidFill>
                  <a:srgbClr val="0F172A"/>
                </a:solidFill>
                <a:latin typeface="Arial"/>
              </a:rPr>
              <a:t>Alert triage: evidence + policy in one screen, so far less time per alert spent switching between systems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00" b="0">
                <a:solidFill>
                  <a:srgbClr val="0F172A"/>
                </a:solidFill>
                <a:latin typeface="Arial"/>
              </a:rPr>
              <a:t>STR first draft in under 2 minutes instead of hours; analysts review rather than write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00" b="0">
                <a:solidFill>
                  <a:srgbClr val="0F172A"/>
                </a:solidFill>
                <a:latin typeface="Arial"/>
              </a:rPr>
              <a:t>Consistent answers: one governed metric definition used by every team and surface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00" b="0">
                <a:solidFill>
                  <a:srgbClr val="0F172A"/>
                </a:solidFill>
                <a:latin typeface="Arial"/>
              </a:rPr>
              <a:t>Audit-ready by default: every number traceable to transactions and a policy clause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09160" y="2743200"/>
            <a:ext cx="4069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B3D5C"/>
                </a:solidFill>
                <a:latin typeface="Arial"/>
              </a:rPr>
              <a:t>Scalability &amp; beyond the demo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09160" y="3035808"/>
            <a:ext cx="406908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18872">
              <a:spcAft>
                <a:spcPts val="300"/>
              </a:spcAft>
              <a:buChar char="•"/>
            </a:pPr>
            <a:r>
              <a:rPr sz="1000" b="0">
                <a:solidFill>
                  <a:srgbClr val="0F172A"/>
                </a:solidFill>
                <a:latin typeface="Arial"/>
              </a:rPr>
              <a:t>Snowflake-native: dynamic tables and Cortex scale with warehouse size, and data never leaves the platform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00" b="0">
                <a:solidFill>
                  <a:srgbClr val="0F172A"/>
                </a:solidFill>
                <a:latin typeface="Arial"/>
              </a:rPr>
              <a:t>New typology = one SQL view + rulebook entry + test; ontology extends via the semantic views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00" b="0">
                <a:solidFill>
                  <a:srgbClr val="0F172A"/>
                </a:solidFill>
                <a:latin typeface="Arial"/>
              </a:rPr>
              <a:t>Reusable CoCo skills and tools port to any bank: swap table names, keep the guardrails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1000" b="0">
                <a:solidFill>
                  <a:srgbClr val="0F172A"/>
                </a:solidFill>
                <a:latin typeface="Arial"/>
              </a:rPr>
              <a:t>Next: trade-finance (TBML) rules, ML anomaly scores, goAML XML export, Arabic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itle"/>
          <p:cNvSpPr txBox="1"/>
          <p:nvPr/>
        </p:nvSpPr>
        <p:spPr>
          <a:xfrm>
            <a:off x="365760" y="621792"/>
            <a:ext cx="8412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B3D5C"/>
                </a:solidFill>
                <a:latin typeface="Arial"/>
              </a:rPr>
              <a:t>Additional · CoCo across the whole lifecycle</a:t>
            </a:r>
          </a:p>
        </p:txBody>
      </p:sp>
      <p:sp>
        <p:nvSpPr>
          <p:cNvPr id="81" name="Subtitle"/>
          <p:cNvSpPr txBox="1"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Every phase runs as a CoCo prompt against Snowflake; sessions are the evidence (coco/EVIDENCE.md)</a:t>
            </a:r>
          </a:p>
        </p:txBody>
      </p:sp>
      <p:sp>
        <p:nvSpPr>
          <p:cNvPr id="82" name="Phase PLAN"/>
          <p:cNvSpPr/>
          <p:nvPr/>
        </p:nvSpPr>
        <p:spPr>
          <a:xfrm>
            <a:off x="365760" y="1371600"/>
            <a:ext cx="1984248" cy="1783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" y="1444752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PLAN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5488" y="1737360"/>
            <a:ext cx="178308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0F172A"/>
                </a:solidFill>
                <a:latin typeface="Arial"/>
              </a:rPr>
              <a:t>Profile the data, frame personas, critique the data model / ontology / workflow, check rule ↔ policy thresholds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5488" y="2852928"/>
            <a:ext cx="17830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50" b="0">
                <a:solidFill>
                  <a:srgbClr val="475569"/>
                </a:solidFill>
                <a:latin typeface="Arial"/>
              </a:rPr>
              <a:t>coco/01_plan.md</a:t>
            </a:r>
          </a:p>
        </p:txBody>
      </p:sp>
      <p:sp>
        <p:nvSpPr>
          <p:cNvPr id="86" name="Phase BUILD"/>
          <p:cNvSpPr/>
          <p:nvPr/>
        </p:nvSpPr>
        <p:spPr>
          <a:xfrm>
            <a:off x="2505456" y="1371600"/>
            <a:ext cx="1984248" cy="1783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15184" y="1444752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BUILD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15184" y="1737360"/>
            <a:ext cx="178308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0F172A"/>
                </a:solidFill>
                <a:latin typeface="Arial"/>
              </a:rPr>
              <a:t>Generate and load data, then build dynamic tables, 8 rules, PDF → Cortex Search, tools, semantic views, agent and app, fixing errors in the repo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15184" y="2852928"/>
            <a:ext cx="17830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50" b="0">
                <a:solidFill>
                  <a:srgbClr val="475569"/>
                </a:solidFill>
                <a:latin typeface="Arial"/>
              </a:rPr>
              <a:t>coco/02_build.md</a:t>
            </a:r>
          </a:p>
        </p:txBody>
      </p:sp>
      <p:sp>
        <p:nvSpPr>
          <p:cNvPr id="90" name="Phase EXECUTE"/>
          <p:cNvSpPr/>
          <p:nvPr/>
        </p:nvSpPr>
        <p:spPr>
          <a:xfrm>
            <a:off x="4645152" y="1371600"/>
            <a:ext cx="1984248" cy="1783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54880" y="1444752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EXECUTE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54880" y="1737360"/>
            <a:ext cx="178308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0F172A"/>
                </a:solidFill>
                <a:latin typeface="Arial"/>
              </a:rPr>
              <a:t>Inject live activity → new alert → case → STR → Slack/Jira via MCP; schedule tasks and CoCo runs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0" y="2852928"/>
            <a:ext cx="17830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50" b="0">
                <a:solidFill>
                  <a:srgbClr val="475569"/>
                </a:solidFill>
                <a:latin typeface="Arial"/>
              </a:rPr>
              <a:t>coco/03_execute.md</a:t>
            </a:r>
          </a:p>
        </p:txBody>
      </p:sp>
      <p:sp>
        <p:nvSpPr>
          <p:cNvPr id="94" name="Phase TEST"/>
          <p:cNvSpPr/>
          <p:nvPr/>
        </p:nvSpPr>
        <p:spPr>
          <a:xfrm>
            <a:off x="6784848" y="1371600"/>
            <a:ext cx="1984248" cy="1783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94576" y="1444752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TEST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94576" y="1737360"/>
            <a:ext cx="178308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0F172A"/>
                </a:solidFill>
                <a:latin typeface="Arial"/>
              </a:rPr>
              <a:t>Recall and false-positive back-test, ontology consistency, masking / RBAC, guardrail and edge cases, golden eval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94576" y="2852928"/>
            <a:ext cx="17830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50" b="0">
                <a:solidFill>
                  <a:srgbClr val="475569"/>
                </a:solidFill>
                <a:latin typeface="Arial"/>
              </a:rPr>
              <a:t>coco/04_test.md</a:t>
            </a:r>
          </a:p>
        </p:txBody>
      </p:sp>
      <p:sp>
        <p:nvSpPr>
          <p:cNvPr id="98" name="Fixes card"/>
          <p:cNvSpPr/>
          <p:nvPr/>
        </p:nvSpPr>
        <p:spPr>
          <a:xfrm>
            <a:off x="365760" y="3291840"/>
            <a:ext cx="4114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2920" y="3346704"/>
            <a:ext cx="3886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0B3D5C"/>
                </a:solidFill>
                <a:latin typeface="Arial"/>
              </a:rPr>
              <a:t>Real fixes CoCo made on the live account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2920" y="3611880"/>
            <a:ext cx="388620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0F172A"/>
                </a:solidFill>
                <a:latin typeface="Arial"/>
              </a:rPr>
              <a:t>Dynamic table over views → wrapped in DYNAMIC_TABLE_REFRESH_BOUNDARY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0F172A"/>
                </a:solidFill>
                <a:latin typeface="Arial"/>
              </a:rPr>
              <a:t>Semantic view metric rules → rewrote ECL / coverage metrics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0F172A"/>
                </a:solidFill>
                <a:latin typeface="Arial"/>
              </a:rPr>
              <a:t>No streams on FULL-refresh tables → poll-based alert router</a:t>
            </a:r>
          </a:p>
          <a:p>
            <a:pPr marL="146304" indent="-118872">
              <a:spcAft>
                <a:spcPts val="300"/>
              </a:spcAft>
              <a:buChar char="•"/>
            </a:pPr>
            <a:r>
              <a:rPr sz="950" b="0">
                <a:solidFill>
                  <a:srgbClr val="0F172A"/>
                </a:solidFill>
                <a:latin typeface="Arial"/>
              </a:rPr>
              <a:t>Masking needs Enterprise → secure view with role check</a:t>
            </a:r>
          </a:p>
        </p:txBody>
      </p:sp>
      <p:sp>
        <p:nvSpPr>
          <p:cNvPr id="101" name="Ingenuity card"/>
          <p:cNvSpPr/>
          <p:nvPr/>
        </p:nvSpPr>
        <p:spPr>
          <a:xfrm>
            <a:off x="4663440" y="3291840"/>
            <a:ext cx="4114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800600" y="3346704"/>
            <a:ext cx="3886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0B3D5C"/>
                </a:solidFill>
                <a:latin typeface="Arial"/>
              </a:rPr>
              <a:t>Ingenuity in CoCo usage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00600" y="3611880"/>
            <a:ext cx="3886200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5 skills, </a:t>
            </a:r>
            <a:r>
              <a:rPr sz="950" b="0">
                <a:solidFill>
                  <a:srgbClr val="0F172A"/>
                </a:solidFill>
                <a:latin typeface="Arial"/>
              </a:rPr>
              <a:t>3 subagents with HANDOFF + independent validation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Plan → build: </a:t>
            </a:r>
            <a:r>
              <a:rPr sz="950" b="0">
                <a:solidFill>
                  <a:srgbClr val="0F172A"/>
                </a:solidFill>
                <a:latin typeface="Arial"/>
              </a:rPr>
              <a:t>CoCo's own review added the PIPELINE_HEALTH check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MCP + schedules: </a:t>
            </a:r>
            <a:r>
              <a:rPr sz="950" b="0">
                <a:solidFill>
                  <a:srgbClr val="0F172A"/>
                </a:solidFill>
                <a:latin typeface="Arial"/>
              </a:rPr>
              <a:t>Slack / Jira dispatch, Snowflake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6 custom tools: </a:t>
            </a:r>
            <a:r>
              <a:rPr sz="950" b="0">
                <a:solidFill>
                  <a:srgbClr val="0F172A"/>
                </a:solidFill>
                <a:latin typeface="Arial"/>
              </a:rPr>
              <a:t>stored procedures the agent calls to 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itle"/>
          <p:cNvSpPr txBox="1"/>
          <p:nvPr/>
        </p:nvSpPr>
        <p:spPr>
          <a:xfrm>
            <a:off x="365760" y="621792"/>
            <a:ext cx="8412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B3D5C"/>
                </a:solidFill>
                <a:latin typeface="Arial"/>
              </a:rPr>
              <a:t>Additional · Governed, explainable, and safe by construction</a:t>
            </a:r>
          </a:p>
        </p:txBody>
      </p:sp>
      <p:graphicFrame>
        <p:nvGraphicFramePr>
          <p:cNvPr id="81" name="Table 80"/>
          <p:cNvGraphicFramePr>
            <a:graphicFrameLocks noGrp="1"/>
          </p:cNvGraphicFramePr>
          <p:nvPr/>
        </p:nvGraphicFramePr>
        <p:xfrm>
          <a:off x="365760" y="1097280"/>
          <a:ext cx="45720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246120"/>
              </a:tblGrid>
              <a:tr h="4013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54864" marR="54864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Control (enforced in code / Snowflake)</a:t>
                      </a:r>
                    </a:p>
                  </a:txBody>
                  <a:tcPr marL="54864" marR="54864">
                    <a:solidFill>
                      <a:srgbClr val="0B3D5C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Hallucinated numbers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Every AED amount reconciled to evidence; failing drafts cannot be filed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Fake citations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Cited chunk IDs must be among the retrieved policy passages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Tipping-off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Language filter + agent instructions; flagged text removed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Unauthorised filing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Agent has no filing tool; APPROVE_REPORT needs RAQIB_MLRO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PII exposure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Secure view masks Emirates ID / phone / email / DOB unless the MLRO role is active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Model outage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Primary → fallback model → deterministic template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Unknown entities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Explicit "not found" (tested), never a guess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Arial"/>
                        </a:rPr>
                        <a:t>Oversight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AUDIT_LOG + COPILOT_AUDIT + EVAL_RESULTS in Snowflake</a:t>
                      </a:r>
                    </a:p>
                  </a:txBody>
                  <a:tcPr marL="54864" marR="54864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82" name="Picture 81" descr="crop_360_150_deck_s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097280"/>
            <a:ext cx="3657600" cy="1972235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83" name="TextBox 82"/>
          <p:cNvSpPr txBox="1"/>
          <p:nvPr/>
        </p:nvSpPr>
        <p:spPr>
          <a:xfrm>
            <a:off x="5120640" y="3154680"/>
            <a:ext cx="3657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475569"/>
                </a:solidFill>
                <a:latin typeface="Arial"/>
              </a:rPr>
              <a:t>Validated STR draft: </a:t>
            </a:r>
            <a:r>
              <a:rPr sz="950" b="0">
                <a:solidFill>
                  <a:srgbClr val="475569"/>
                </a:solidFill>
                <a:latin typeface="Arial"/>
              </a:rPr>
              <a:t>8/8 amounts reconciled, citations valid, tipping-off check clear. Only the MLRO can approve and file; a goAML reference is recorded and every step is logged.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itle"/>
          <p:cNvSpPr txBox="1"/>
          <p:nvPr/>
        </p:nvSpPr>
        <p:spPr>
          <a:xfrm>
            <a:off x="365760" y="621792"/>
            <a:ext cx="8412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B3D5C"/>
                </a:solidFill>
                <a:latin typeface="Arial"/>
              </a:rPr>
              <a:t>Additional · Product walkthrough (Streamlit in Snowflake)</a:t>
            </a:r>
          </a:p>
        </p:txBody>
      </p:sp>
      <p:pic>
        <p:nvPicPr>
          <p:cNvPr id="81" name="Picture 80" descr="live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419955" cy="324612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82" name="TextBox 81"/>
          <p:cNvSpPr txBox="1"/>
          <p:nvPr/>
        </p:nvSpPr>
        <p:spPr>
          <a:xfrm>
            <a:off x="365760" y="4389120"/>
            <a:ext cx="3419955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Arial"/>
              </a:rPr>
              <a:t>Live in Snowflake: Command Center reading the deployed pipeline (Live · Snowflake Cortex)</a:t>
            </a:r>
          </a:p>
        </p:txBody>
      </p:sp>
      <p:pic>
        <p:nvPicPr>
          <p:cNvPr id="83" name="Picture 82" descr="crop_380_395_deck_c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315" y="1097280"/>
            <a:ext cx="4763924" cy="1643553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84" name="TextBox 83"/>
          <p:cNvSpPr txBox="1"/>
          <p:nvPr/>
        </p:nvSpPr>
        <p:spPr>
          <a:xfrm>
            <a:off x="4014315" y="2759121"/>
            <a:ext cx="47639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Arial"/>
              </a:rPr>
              <a:t>Copilot: governed answer with rules, score breakdown and policy citations</a:t>
            </a:r>
          </a:p>
        </p:txBody>
      </p:sp>
      <p:pic>
        <p:nvPicPr>
          <p:cNvPr id="85" name="Picture 84" descr="crop_360_285_deck_money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315" y="3124881"/>
            <a:ext cx="4763924" cy="1284391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86" name="TextBox 85"/>
          <p:cNvSpPr txBox="1"/>
          <p:nvPr/>
        </p:nvSpPr>
        <p:spPr>
          <a:xfrm>
            <a:off x="4014315" y="4427561"/>
            <a:ext cx="47639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475569"/>
                </a:solidFill>
                <a:latin typeface="Arial"/>
              </a:rPr>
              <a:t>Investigate: why the alert fired, against the KYC profile and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Rounded Rectangle 85"/>
          <p:cNvSpPr/>
          <p:nvPr/>
        </p:nvSpPr>
        <p:spPr>
          <a:xfrm>
            <a:off x="457200" y="4160520"/>
            <a:ext cx="8229600" cy="685800"/>
          </a:xfrm>
          <a:prstGeom prst="roundRect">
            <a:avLst/>
          </a:prstGeom>
          <a:solidFill>
            <a:srgbClr val="0B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7DD3FC"/>
                </a:solidFill>
                <a:latin typeface="Arial"/>
              </a:rPr>
              <a:t>GitHub  </a:t>
            </a:r>
            <a:r>
              <a:rPr sz="1100" b="0">
                <a:solidFill>
                  <a:srgbClr val="FFFFFF"/>
                </a:solidFill>
                <a:latin typeface="Arial"/>
              </a:rPr>
              <a:t>github.com/ipavanreddy/raqib-snowflake-copilot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7DD3FC"/>
                </a:solidFill>
                <a:latin typeface="Arial"/>
              </a:rPr>
              <a:t>Live app  </a:t>
            </a:r>
            <a:r>
              <a:rPr sz="1100" b="0">
                <a:solidFill>
                  <a:srgbClr val="FFFFFF"/>
                </a:solidFill>
                <a:latin typeface="Arial"/>
              </a:rPr>
              <a:t>Streamlit in Snowflake · RAQIB.APP.RAQIB_APP (Snowsight login)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