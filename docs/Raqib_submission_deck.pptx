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3" r:id="rId17"/>
    <p:sldId id="262" r:id="rId16"/>
    <p:sldId id="261" r:id="rId11"/>
  </p:sldIdLst>
  <p:sldSz cy="5143500" cx="9144000"/>
  <p:notesSz cx="6858000" cy="9144000"/>
  <p:embeddedFontLst>
    <p:embeddedFont>
      <p:font typeface="Manrope SemiBold"/>
      <p:regular r:id="rId12"/>
      <p:bold r:id="rId13"/>
    </p:embeddedFont>
    <p:embeddedFont>
      <p:font typeface="Manrope"/>
      <p:regular r:id="rId14"/>
      <p:bold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slide" Target="slides/slide8.xml"/><Relationship Id="rId12" Type="http://schemas.openxmlformats.org/officeDocument/2006/relationships/font" Target="fonts/ManropeSemiBold-regular.fntdata"/><Relationship Id="rId13" Type="http://schemas.openxmlformats.org/officeDocument/2006/relationships/font" Target="fonts/ManropeSemiBold-bold.fntdata"/><Relationship Id="rId14" Type="http://schemas.openxmlformats.org/officeDocument/2006/relationships/font" Target="fonts/Manrope-regular.fntdata"/><Relationship Id="rId15" Type="http://schemas.openxmlformats.org/officeDocument/2006/relationships/font" Target="fonts/Manrope-bold.fntdata"/><Relationship Id="rId16" Type="http://schemas.openxmlformats.org/officeDocument/2006/relationships/slide" Target="slides/slide7.xml"/><Relationship Id="rId17" Type="http://schemas.openxmlformats.org/officeDocument/2006/relationships/slide" Target="slides/slide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98450" lvl="1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9845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9845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9845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9845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9845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9845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9845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1" name="Google Shape;61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7" name="Google Shape;67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2" name="Google Shape;72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5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Google Shape;76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7" name="Google Shape;77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3" name="Google Shape;83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3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3" name="Google Shape;13;p3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4" name="Google Shape;14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7" name="Google Shape;17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8" name="Shape 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Google Shape;19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0" name="Google Shape;20;p5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21" name="Google Shape;21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2" name="Shape 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Google Shape;23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4" name="Google Shape;24;p6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5" name="Google Shape;25;p6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6" name="Google Shape;26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7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7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9" name="Google Shape;29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8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2" name="Google Shape;32;p8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3" name="Google Shape;33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9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6" name="Google Shape;36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10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" name="Google Shape;39;p10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40" name="Google Shape;40;p10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41" name="Google Shape;41;p10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2" name="Google Shape;42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11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45" name="Google Shape;45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46" name="Shape 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Google Shape;47;p12"/>
          <p:cNvSpPr txBox="1"/>
          <p:nvPr>
            <p:ph hasCustomPrompt="1"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8" name="Google Shape;48;p12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3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5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png"/><Relationship Id="rId4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5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6.png"/><Relationship Id="rId3" Type="http://schemas.openxmlformats.org/officeDocument/2006/relationships/image" Target="../media/image5.png"/><Relationship Id="rId4" Type="http://schemas.openxmlformats.org/officeDocument/2006/relationships/image" Target="../media/image7.png"/><Relationship Id="rId5" Type="http://schemas.openxmlformats.org/officeDocument/2006/relationships/image" Target="../media/image8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4" name="Google Shape;54;p13" title="Framexexexe 232.png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-12" y="0"/>
            <a:ext cx="9144018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55" name="Google Shape;55;p13"/>
          <p:cNvSpPr txBox="1"/>
          <p:nvPr/>
        </p:nvSpPr>
        <p:spPr>
          <a:xfrm>
            <a:off x="402808" y="3192600"/>
            <a:ext cx="7152900" cy="372600"/>
          </a:xfrm>
          <a:prstGeom prst="rect">
            <a:avLst/>
          </a:prstGeom>
          <a:noFill/>
          <a:ln>
            <a:noFill/>
          </a:ln>
        </p:spPr>
        <p:txBody>
          <a:bodyPr anchorCtr="0" anchor="t" bIns="76750" lIns="76750" spcFirstLastPara="1" rIns="76750" wrap="square" tIns="76750">
            <a:normAutofit/>
          </a:bodyPr>
          <a:lstStyle/>
          <a:p>
            <a:pPr indent="0" lvl="0" mar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43"/>
              <a:buFont typeface="Arial"/>
              <a:buNone/>
            </a:pPr>
            <a:r>
              <a:rPr b="0" i="0" lang="en-GB" sz="1343" u="none" cap="none" strike="noStrike">
                <a:solidFill>
                  <a:srgbClr val="202729"/>
                </a:solidFill>
                <a:latin typeface="Manrope SemiBold"/>
                <a:ea typeface="Manrope SemiBold"/>
                <a:cs typeface="Manrope SemiBold"/>
                <a:sym typeface="Manrope SemiBold"/>
              </a:rPr>
              <a:t>Team Name :</a:t>
            </a:r>
            <a:r>
              <a:rPr sz="1343" b="0">
                <a:solidFill>
                  <a:srgbClr val="0F766E"/>
                </a:solidFill>
                <a:latin typeface="Manrope SemiBold"/>
              </a:rPr>
              <a:t> Spontom</a:t>
            </a:r>
            <a:endParaRPr b="0" i="0" sz="1343" u="none" cap="none" strike="noStrike">
              <a:solidFill>
                <a:srgbClr val="202729"/>
              </a:solidFill>
              <a:latin typeface="Manrope SemiBold"/>
              <a:ea typeface="Manrope SemiBold"/>
              <a:cs typeface="Manrope SemiBold"/>
              <a:sym typeface="Manrope SemiBold"/>
            </a:endParaRPr>
          </a:p>
        </p:txBody>
      </p:sp>
      <p:sp>
        <p:nvSpPr>
          <p:cNvPr id="56" name="Google Shape;56;p13"/>
          <p:cNvSpPr txBox="1"/>
          <p:nvPr/>
        </p:nvSpPr>
        <p:spPr>
          <a:xfrm>
            <a:off x="402788" y="4250161"/>
            <a:ext cx="7152900" cy="342900"/>
          </a:xfrm>
          <a:prstGeom prst="rect">
            <a:avLst/>
          </a:prstGeom>
          <a:noFill/>
          <a:ln>
            <a:noFill/>
          </a:ln>
        </p:spPr>
        <p:txBody>
          <a:bodyPr anchorCtr="0" anchor="t" bIns="76750" lIns="76750" spcFirstLastPara="1" rIns="76750" wrap="square" tIns="76750">
            <a:normAutofit/>
          </a:bodyPr>
          <a:lstStyle/>
          <a:p>
            <a:pPr indent="0" lvl="0" marL="0" marR="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43"/>
              <a:buFont typeface="Arial"/>
              <a:buNone/>
            </a:pPr>
            <a:r>
              <a:rPr b="0" i="0" lang="en-GB" sz="1343" u="none" cap="none" strike="noStrike">
                <a:solidFill>
                  <a:srgbClr val="202729"/>
                </a:solidFill>
                <a:latin typeface="Manrope SemiBold"/>
                <a:ea typeface="Manrope SemiBold"/>
                <a:cs typeface="Manrope SemiBold"/>
                <a:sym typeface="Manrope SemiBold"/>
              </a:rPr>
              <a:t>Problem Statement :</a:t>
            </a:r>
            <a:r>
              <a:rPr sz="1343" b="0">
                <a:solidFill>
                  <a:srgbClr val="0F766E"/>
                </a:solidFill>
                <a:latin typeface="Manrope SemiBold"/>
              </a:rPr>
              <a:t> Problem 1 — Risk, Fraud and Regulatory Intelligence Copilot  ·  Raqib</a:t>
            </a:r>
            <a:endParaRPr b="0" i="0" sz="1343" u="none" cap="none" strike="noStrike">
              <a:solidFill>
                <a:srgbClr val="202729"/>
              </a:solidFill>
              <a:latin typeface="Manrope SemiBold"/>
              <a:ea typeface="Manrope SemiBold"/>
              <a:cs typeface="Manrope SemiBold"/>
              <a:sym typeface="Manrope SemiBold"/>
            </a:endParaRPr>
          </a:p>
        </p:txBody>
      </p:sp>
      <p:sp>
        <p:nvSpPr>
          <p:cNvPr id="57" name="Google Shape;57;p13"/>
          <p:cNvSpPr txBox="1"/>
          <p:nvPr/>
        </p:nvSpPr>
        <p:spPr>
          <a:xfrm>
            <a:off x="402798" y="3534656"/>
            <a:ext cx="7152900" cy="372600"/>
          </a:xfrm>
          <a:prstGeom prst="rect">
            <a:avLst/>
          </a:prstGeom>
          <a:noFill/>
          <a:ln>
            <a:noFill/>
          </a:ln>
        </p:spPr>
        <p:txBody>
          <a:bodyPr anchorCtr="0" anchor="t" bIns="76750" lIns="76750" spcFirstLastPara="1" rIns="76750" wrap="square" tIns="76750">
            <a:normAutofit/>
          </a:bodyPr>
          <a:lstStyle/>
          <a:p>
            <a:pPr indent="0" lvl="0" mar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43"/>
              <a:buFont typeface="Arial"/>
              <a:buNone/>
            </a:pPr>
            <a:r>
              <a:rPr b="0" i="0" lang="en-GB" sz="1343" u="none" cap="none" strike="noStrike">
                <a:solidFill>
                  <a:srgbClr val="202729"/>
                </a:solidFill>
                <a:latin typeface="Manrope SemiBold"/>
                <a:ea typeface="Manrope SemiBold"/>
                <a:cs typeface="Manrope SemiBold"/>
                <a:sym typeface="Manrope SemiBold"/>
              </a:rPr>
              <a:t>Team Leader Name :</a:t>
            </a:r>
            <a:r>
              <a:rPr sz="1343" b="0">
                <a:solidFill>
                  <a:srgbClr val="0F766E"/>
                </a:solidFill>
                <a:latin typeface="Manrope SemiBold"/>
              </a:rPr>
              <a:t> Pavan Kumar Vinnakota</a:t>
            </a:r>
            <a:endParaRPr b="0" i="0" sz="1343" u="none" cap="none" strike="noStrike">
              <a:solidFill>
                <a:srgbClr val="202729"/>
              </a:solidFill>
              <a:latin typeface="Manrope SemiBold"/>
              <a:ea typeface="Manrope SemiBold"/>
              <a:cs typeface="Manrope SemiBold"/>
              <a:sym typeface="Manrope SemiBold"/>
            </a:endParaRPr>
          </a:p>
        </p:txBody>
      </p:sp>
      <p:sp>
        <p:nvSpPr>
          <p:cNvPr id="58" name="Google Shape;58;p13"/>
          <p:cNvSpPr txBox="1"/>
          <p:nvPr/>
        </p:nvSpPr>
        <p:spPr>
          <a:xfrm>
            <a:off x="402788" y="3907261"/>
            <a:ext cx="7152900" cy="342900"/>
          </a:xfrm>
          <a:prstGeom prst="rect">
            <a:avLst/>
          </a:prstGeom>
          <a:noFill/>
          <a:ln>
            <a:noFill/>
          </a:ln>
        </p:spPr>
        <p:txBody>
          <a:bodyPr anchorCtr="0" anchor="t" bIns="76750" lIns="76750" spcFirstLastPara="1" rIns="76750" wrap="square" tIns="76750">
            <a:normAutofit/>
          </a:bodyPr>
          <a:lstStyle/>
          <a:p>
            <a:pPr indent="0" lvl="0" marL="0" marR="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43"/>
              <a:buFont typeface="Arial"/>
              <a:buNone/>
            </a:pPr>
            <a:r>
              <a:rPr b="0" i="0" lang="en-GB" sz="1343" u="none" cap="none" strike="noStrike">
                <a:solidFill>
                  <a:srgbClr val="202729"/>
                </a:solidFill>
                <a:latin typeface="Manrope SemiBold"/>
                <a:ea typeface="Manrope SemiBold"/>
                <a:cs typeface="Manrope SemiBold"/>
                <a:sym typeface="Manrope SemiBold"/>
              </a:rPr>
              <a:t>Team Size :</a:t>
            </a:r>
            <a:r>
              <a:rPr sz="1343" b="0">
                <a:solidFill>
                  <a:srgbClr val="0F766E"/>
                </a:solidFill>
                <a:latin typeface="Manrope SemiBold"/>
              </a:rPr>
              <a:t> 4</a:t>
            </a:r>
            <a:endParaRPr b="0" i="0" sz="1343" u="none" cap="none" strike="noStrike">
              <a:solidFill>
                <a:srgbClr val="202729"/>
              </a:solidFill>
              <a:latin typeface="Manrope SemiBold"/>
              <a:ea typeface="Manrope SemiBold"/>
              <a:cs typeface="Manrope SemiBold"/>
              <a:sym typeface="Manrope SemiBold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3" name="Google Shape;63;p14" title="Framewsxexexe 233.png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9144018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64" name="Title"/>
          <p:cNvSpPr txBox="1"/>
          <p:nvPr/>
        </p:nvSpPr>
        <p:spPr>
          <a:xfrm>
            <a:off x="365760" y="621792"/>
            <a:ext cx="8412480" cy="38404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B3D5C"/>
                </a:solidFill>
                <a:latin typeface="Arial"/>
              </a:rPr>
              <a:t>1 · Problem brief: financial-crime and risk work is manual and siloed</a:t>
            </a:r>
          </a:p>
        </p:txBody>
      </p:sp>
      <p:sp>
        <p:nvSpPr>
          <p:cNvPr id="65" name="Subtitle"/>
          <p:cNvSpPr txBox="1"/>
          <p:nvPr/>
        </p:nvSpPr>
        <p:spPr>
          <a:xfrm>
            <a:off x="365760" y="987552"/>
            <a:ext cx="84124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>
              <a:spcAft>
                <a:spcPts val="300"/>
              </a:spcAft>
            </a:pPr>
            <a:r>
              <a:rPr sz="1100" b="0">
                <a:solidFill>
                  <a:srgbClr val="475569"/>
                </a:solidFill>
                <a:latin typeface="Arial"/>
              </a:rPr>
              <a:t>Banking &amp; NBFC (GCC) · AML/CFT, sanctions, fraud, Basel III liquidity, IFRS 9 credit risk</a:t>
            </a:r>
          </a:p>
        </p:txBody>
      </p:sp>
      <p:sp>
        <p:nvSpPr>
          <p:cNvPr id="66" name="Card Business problem"/>
          <p:cNvSpPr/>
          <p:nvPr/>
        </p:nvSpPr>
        <p:spPr>
          <a:xfrm>
            <a:off x="365760" y="1371600"/>
            <a:ext cx="3977639" cy="1069848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502920" y="1444752"/>
            <a:ext cx="3749039" cy="23774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>
              <a:spcAft>
                <a:spcPts val="300"/>
              </a:spcAft>
            </a:pPr>
            <a:r>
              <a:rPr sz="1150" b="1">
                <a:solidFill>
                  <a:srgbClr val="0F766E"/>
                </a:solidFill>
                <a:latin typeface="Arial"/>
              </a:rPr>
              <a:t>Business problem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502920" y="1682496"/>
            <a:ext cx="3749039" cy="7498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>
              <a:spcAft>
                <a:spcPts val="300"/>
              </a:spcAft>
            </a:pPr>
            <a:r>
              <a:rPr sz="1000" b="0">
                <a:solidFill>
                  <a:srgbClr val="0F172A"/>
                </a:solidFill>
                <a:latin typeface="Arial"/>
              </a:rPr>
              <a:t>Analysts triage monitoring alerts across core-banking screens, policy PDFs and spreadsheets, write every STR from scratch, and build LCR / NPL reporting in Excel. Decisions are slow, inconsistent and hard to evidence for the regulator.</a:t>
            </a:r>
          </a:p>
        </p:txBody>
      </p:sp>
      <p:sp>
        <p:nvSpPr>
          <p:cNvPr id="69" name="Card Target users"/>
          <p:cNvSpPr/>
          <p:nvPr/>
        </p:nvSpPr>
        <p:spPr>
          <a:xfrm>
            <a:off x="365760" y="2514600"/>
            <a:ext cx="3977639" cy="1069848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502920" y="2587752"/>
            <a:ext cx="3749039" cy="23774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>
              <a:spcAft>
                <a:spcPts val="300"/>
              </a:spcAft>
            </a:pPr>
            <a:r>
              <a:rPr sz="1150" b="1">
                <a:solidFill>
                  <a:srgbClr val="0F766E"/>
                </a:solidFill>
                <a:latin typeface="Arial"/>
              </a:rPr>
              <a:t>Target users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502920" y="2825496"/>
            <a:ext cx="3749039" cy="7498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>
              <a:spcAft>
                <a:spcPts val="300"/>
              </a:spcAft>
            </a:pPr>
            <a:r>
              <a:rPr sz="1000" b="0">
                <a:solidFill>
                  <a:srgbClr val="0F172A"/>
                </a:solidFill>
                <a:latin typeface="Arial"/>
              </a:rPr>
              <a:t>FCC analyst (triage and investigate) · MLRO (decide and file STRs) · Treasury / Risk (LCR, NPL) · Internal Audit and Model Risk (oversight).</a:t>
            </a:r>
          </a:p>
        </p:txBody>
      </p:sp>
      <p:sp>
        <p:nvSpPr>
          <p:cNvPr id="72" name="Card Industry context"/>
          <p:cNvSpPr/>
          <p:nvPr/>
        </p:nvSpPr>
        <p:spPr>
          <a:xfrm>
            <a:off x="365760" y="3657600"/>
            <a:ext cx="3977639" cy="1069848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502920" y="3730752"/>
            <a:ext cx="3749039" cy="23774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>
              <a:spcAft>
                <a:spcPts val="300"/>
              </a:spcAft>
            </a:pPr>
            <a:r>
              <a:rPr sz="1150" b="1">
                <a:solidFill>
                  <a:srgbClr val="0F766E"/>
                </a:solidFill>
                <a:latin typeface="Arial"/>
              </a:rPr>
              <a:t>Industry context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502920" y="3968496"/>
            <a:ext cx="3749039" cy="7498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>
              <a:spcAft>
                <a:spcPts val="300"/>
              </a:spcAft>
            </a:pPr>
            <a:r>
              <a:rPr sz="1000" b="0">
                <a:solidFill>
                  <a:srgbClr val="0F172A"/>
                </a:solidFill>
                <a:latin typeface="Arial"/>
              </a:rPr>
              <a:t>UAE AML/CFT framework (Federal Decree-Law 20/2018), goAML STR filing, tipping-off prohibition, internal AED 55,000 cash threshold, Basel III LCR ≥ 100%, IFRS 9 staging.</a:t>
            </a:r>
          </a:p>
        </p:txBody>
      </p:sp>
      <p:graphicFrame>
        <p:nvGraphicFramePr>
          <p:cNvPr id="75" name="Table 74"/>
          <p:cNvGraphicFramePr>
            <a:graphicFrameLocks noGrp="1"/>
          </p:cNvGraphicFramePr>
          <p:nvPr/>
        </p:nvGraphicFramePr>
        <p:xfrm>
          <a:off x="4526280" y="1371600"/>
          <a:ext cx="4251960" cy="3355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60120"/>
                <a:gridCol w="1554480"/>
                <a:gridCol w="1737360"/>
              </a:tblGrid>
              <a:tr h="559308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Job</a:t>
                      </a:r>
                    </a:p>
                  </a:txBody>
                  <a:tcPr marL="54864" marR="54864">
                    <a:solidFill>
                      <a:srgbClr val="0B3D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Today</a:t>
                      </a:r>
                    </a:p>
                  </a:txBody>
                  <a:tcPr marL="54864" marR="54864">
                    <a:solidFill>
                      <a:srgbClr val="0B3D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With Raqib</a:t>
                      </a:r>
                    </a:p>
                  </a:txBody>
                  <a:tcPr marL="54864" marR="54864">
                    <a:solidFill>
                      <a:srgbClr val="0B3D5C"/>
                    </a:solidFill>
                  </a:tcPr>
                </a:tc>
              </a:tr>
              <a:tr h="559308"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0F172A"/>
                          </a:solidFill>
                          <a:latin typeface="Arial"/>
                        </a:rPr>
                        <a:t>Alert triage</a:t>
                      </a:r>
                    </a:p>
                  </a:txBody>
                  <a:tcPr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0F172A"/>
                          </a:solidFill>
                          <a:latin typeface="Arial"/>
                        </a:rPr>
                        <a:t>5+ systems; policy looked up by hand</a:t>
                      </a:r>
                    </a:p>
                  </a:txBody>
                  <a:tcPr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0F766E"/>
                          </a:solidFill>
                          <a:latin typeface="Arial"/>
                        </a:rPr>
                        <a:t>One evidence view + the governing clause</a:t>
                      </a:r>
                    </a:p>
                  </a:txBody>
                  <a:tcPr marL="54864" marR="54864">
                    <a:solidFill>
                      <a:srgbClr val="FFFFFF"/>
                    </a:solidFill>
                  </a:tcPr>
                </a:tc>
              </a:tr>
              <a:tr h="559308"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0F172A"/>
                          </a:solidFill>
                          <a:latin typeface="Arial"/>
                        </a:rPr>
                        <a:t>Explain a risk</a:t>
                      </a:r>
                    </a:p>
                  </a:txBody>
                  <a:tcPr marL="54864" marR="54864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0F172A"/>
                          </a:solidFill>
                          <a:latin typeface="Arial"/>
                        </a:rPr>
                        <a:t>Analyst writes SQL or raises a ticket</a:t>
                      </a:r>
                    </a:p>
                  </a:txBody>
                  <a:tcPr marL="54864" marR="54864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0F766E"/>
                          </a:solidFill>
                          <a:latin typeface="Arial"/>
                        </a:rPr>
                        <a:t>Plain-English question → governed answer</a:t>
                      </a:r>
                    </a:p>
                  </a:txBody>
                  <a:tcPr marL="54864" marR="54864">
                    <a:solidFill>
                      <a:srgbClr val="F1F5F9"/>
                    </a:solidFill>
                  </a:tcPr>
                </a:tc>
              </a:tr>
              <a:tr h="559308"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0F172A"/>
                          </a:solidFill>
                          <a:latin typeface="Arial"/>
                        </a:rPr>
                        <a:t>STR drafting</a:t>
                      </a:r>
                    </a:p>
                  </a:txBody>
                  <a:tcPr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0F172A"/>
                          </a:solidFill>
                          <a:latin typeface="Arial"/>
                        </a:rPr>
                        <a:t>Written from scratch each time</a:t>
                      </a:r>
                    </a:p>
                  </a:txBody>
                  <a:tcPr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0F766E"/>
                          </a:solidFill>
                          <a:latin typeface="Arial"/>
                        </a:rPr>
                        <a:t>Cited draft, amounts verified in code</a:t>
                      </a:r>
                    </a:p>
                  </a:txBody>
                  <a:tcPr marL="54864" marR="54864">
                    <a:solidFill>
                      <a:srgbClr val="FFFFFF"/>
                    </a:solidFill>
                  </a:tcPr>
                </a:tc>
              </a:tr>
              <a:tr h="559308"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0F172A"/>
                          </a:solidFill>
                          <a:latin typeface="Arial"/>
                        </a:rPr>
                        <a:t>LCR / NPL</a:t>
                      </a:r>
                    </a:p>
                  </a:txBody>
                  <a:tcPr marL="54864" marR="54864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0F172A"/>
                          </a:solidFill>
                          <a:latin typeface="Arial"/>
                        </a:rPr>
                        <a:t>Excel pack, days later</a:t>
                      </a:r>
                    </a:p>
                  </a:txBody>
                  <a:tcPr marL="54864" marR="54864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0F766E"/>
                          </a:solidFill>
                          <a:latin typeface="Arial"/>
                        </a:rPr>
                        <a:t>Live LCR trigger + NPL by sector</a:t>
                      </a:r>
                    </a:p>
                  </a:txBody>
                  <a:tcPr marL="54864" marR="54864">
                    <a:solidFill>
                      <a:srgbClr val="F1F5F9"/>
                    </a:solidFill>
                  </a:tcPr>
                </a:tc>
              </a:tr>
              <a:tr h="559308"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0F172A"/>
                          </a:solidFill>
                          <a:latin typeface="Arial"/>
                        </a:rPr>
                        <a:t>Audit trail</a:t>
                      </a:r>
                    </a:p>
                  </a:txBody>
                  <a:tcPr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0F172A"/>
                          </a:solidFill>
                          <a:latin typeface="Arial"/>
                        </a:rPr>
                        <a:t>Emails and spreadsheets</a:t>
                      </a:r>
                    </a:p>
                  </a:txBody>
                  <a:tcPr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0F766E"/>
                          </a:solidFill>
                          <a:latin typeface="Arial"/>
                        </a:rPr>
                        <a:t>Every question and tool action logged</a:t>
                      </a:r>
                    </a:p>
                  </a:txBody>
                  <a:tcPr marL="54864" marR="54864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9" name="Google Shape;69;p15" title="Framewsxexexe 233.png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9144018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70" name="Title"/>
          <p:cNvSpPr txBox="1"/>
          <p:nvPr/>
        </p:nvSpPr>
        <p:spPr>
          <a:xfrm>
            <a:off x="365760" y="621792"/>
            <a:ext cx="8412480" cy="38404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B3D5C"/>
                </a:solidFill>
                <a:latin typeface="Arial"/>
              </a:rPr>
              <a:t>2 · Architecture: one governed platform, end to end</a:t>
            </a:r>
          </a:p>
        </p:txBody>
      </p:sp>
      <p:pic>
        <p:nvPicPr>
          <p:cNvPr id="71" name="Picture 70" descr="architectur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85824" y="1060704"/>
            <a:ext cx="6372352" cy="3584448"/>
          </a:xfrm>
          <a:prstGeom prst="rect">
            <a:avLst/>
          </a:prstGeom>
          <a:ln w="9525">
            <a:solidFill>
              <a:srgbClr val="CBD5E1"/>
            </a:solidFill>
          </a:ln>
        </p:spPr>
      </p:pic>
      <p:sp>
        <p:nvSpPr>
          <p:cNvPr id="72" name="TextBox 71"/>
          <p:cNvSpPr txBox="1"/>
          <p:nvPr/>
        </p:nvSpPr>
        <p:spPr>
          <a:xfrm>
            <a:off x="365760" y="4663440"/>
            <a:ext cx="8412480" cy="2286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>
              <a:spcAft>
                <a:spcPts val="300"/>
              </a:spcAft>
            </a:pPr>
            <a:r>
              <a:rPr sz="900" b="0">
                <a:solidFill>
                  <a:srgbClr val="475569"/>
                </a:solidFill>
                <a:latin typeface="Arial"/>
              </a:rPr>
              <a:t>Data: structured core banking, digital, treasury and credit tables + unstructured policy PDFs. CoCo skills: synthetic-banking-data → aml-investigation → regulatory-report-drafter → copilot-eval → alert-dispatch.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3" name="Shape 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4" name="Google Shape;74;p16" title="Framewsxexexe 233.png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9144018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75" name="Title"/>
          <p:cNvSpPr txBox="1"/>
          <p:nvPr/>
        </p:nvSpPr>
        <p:spPr>
          <a:xfrm>
            <a:off x="365760" y="621792"/>
            <a:ext cx="8412480" cy="38404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B3D5C"/>
                </a:solidFill>
                <a:latin typeface="Arial"/>
              </a:rPr>
              <a:t>3 · Impact: measured on the synthetic bank, built to scale</a:t>
            </a:r>
          </a:p>
        </p:txBody>
      </p:sp>
      <p:sp>
        <p:nvSpPr>
          <p:cNvPr id="76" name="Subtitle"/>
          <p:cNvSpPr txBox="1"/>
          <p:nvPr/>
        </p:nvSpPr>
        <p:spPr>
          <a:xfrm>
            <a:off x="365760" y="987552"/>
            <a:ext cx="84124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>
              <a:spcAft>
                <a:spcPts val="300"/>
              </a:spcAft>
            </a:pPr>
            <a:r>
              <a:rPr sz="1100" b="0">
                <a:solidFill>
                  <a:srgbClr val="475569"/>
                </a:solidFill>
                <a:latin typeface="Arial"/>
              </a:rPr>
              <a:t>Measured = from the repo's automated tests and eval. Business outcomes are estimates to validate in a pilot.</a:t>
            </a:r>
          </a:p>
        </p:txBody>
      </p:sp>
      <p:sp>
        <p:nvSpPr>
          <p:cNvPr id="77" name="Stat 100%"/>
          <p:cNvSpPr/>
          <p:nvPr/>
        </p:nvSpPr>
        <p:spPr>
          <a:xfrm>
            <a:off x="365760" y="1371600"/>
            <a:ext cx="1984248" cy="118872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475488" y="1444752"/>
            <a:ext cx="1783080" cy="5029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>
              <a:spcAft>
                <a:spcPts val="300"/>
              </a:spcAft>
            </a:pPr>
            <a:r>
              <a:rPr sz="2600" b="1">
                <a:solidFill>
                  <a:srgbClr val="0F766E"/>
                </a:solidFill>
                <a:latin typeface="Arial"/>
              </a:rPr>
              <a:t>100%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475488" y="1965960"/>
            <a:ext cx="178308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>
              <a:spcAft>
                <a:spcPts val="300"/>
              </a:spcAft>
            </a:pPr>
            <a:r>
              <a:rPr sz="950" b="0">
                <a:solidFill>
                  <a:srgbClr val="0F172A"/>
                </a:solidFill>
                <a:latin typeface="Arial"/>
              </a:rPr>
              <a:t>recall on 42 planted
typology scenarios (8 rules)</a:t>
            </a:r>
          </a:p>
        </p:txBody>
      </p:sp>
      <p:sp>
        <p:nvSpPr>
          <p:cNvPr id="80" name="Stat ≤ 12"/>
          <p:cNvSpPr/>
          <p:nvPr/>
        </p:nvSpPr>
        <p:spPr>
          <a:xfrm>
            <a:off x="2505456" y="1371600"/>
            <a:ext cx="1984248" cy="118872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2615184" y="1444752"/>
            <a:ext cx="1783080" cy="5029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>
              <a:spcAft>
                <a:spcPts val="300"/>
              </a:spcAft>
            </a:pPr>
            <a:r>
              <a:rPr sz="2600" b="1">
                <a:solidFill>
                  <a:srgbClr val="0F766E"/>
                </a:solidFill>
                <a:latin typeface="Arial"/>
              </a:rPr>
              <a:t>≤ 12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2615184" y="1965960"/>
            <a:ext cx="178308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>
              <a:spcAft>
                <a:spcPts val="300"/>
              </a:spcAft>
            </a:pPr>
            <a:r>
              <a:rPr sz="950" b="0">
                <a:solidFill>
                  <a:srgbClr val="0F172A"/>
                </a:solidFill>
                <a:latin typeface="Arial"/>
              </a:rPr>
              <a:t>false-positive alerts per
rule on 2,150 customers</a:t>
            </a:r>
          </a:p>
        </p:txBody>
      </p:sp>
      <p:sp>
        <p:nvSpPr>
          <p:cNvPr id="83" name="Stat 10 / 10"/>
          <p:cNvSpPr/>
          <p:nvPr/>
        </p:nvSpPr>
        <p:spPr>
          <a:xfrm>
            <a:off x="4645152" y="1371600"/>
            <a:ext cx="1984248" cy="118872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4754880" y="1444752"/>
            <a:ext cx="1783080" cy="5029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>
              <a:spcAft>
                <a:spcPts val="300"/>
              </a:spcAft>
            </a:pPr>
            <a:r>
              <a:rPr sz="2600" b="1">
                <a:solidFill>
                  <a:srgbClr val="0F766E"/>
                </a:solidFill>
                <a:latin typeface="Arial"/>
              </a:rPr>
              <a:t>10 / 10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4754880" y="1965960"/>
            <a:ext cx="178308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>
              <a:spcAft>
                <a:spcPts val="300"/>
              </a:spcAft>
            </a:pPr>
            <a:r>
              <a:rPr sz="950" b="0">
                <a:solidFill>
                  <a:srgbClr val="0F172A"/>
                </a:solidFill>
                <a:latin typeface="Arial"/>
              </a:rPr>
              <a:t>golden copilot questions
passed (incl. guardrails)</a:t>
            </a:r>
          </a:p>
        </p:txBody>
      </p:sp>
      <p:sp>
        <p:nvSpPr>
          <p:cNvPr id="86" name="Stat 3 / 3"/>
          <p:cNvSpPr/>
          <p:nvPr/>
        </p:nvSpPr>
        <p:spPr>
          <a:xfrm>
            <a:off x="6784848" y="1371600"/>
            <a:ext cx="1984248" cy="118872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6894576" y="1444752"/>
            <a:ext cx="1783080" cy="5029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>
              <a:spcAft>
                <a:spcPts val="300"/>
              </a:spcAft>
            </a:pPr>
            <a:r>
              <a:rPr sz="2600" b="1">
                <a:solidFill>
                  <a:srgbClr val="0F766E"/>
                </a:solidFill>
                <a:latin typeface="Arial"/>
              </a:rPr>
              <a:t>3 / 3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6894576" y="1965960"/>
            <a:ext cx="178308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>
              <a:spcAft>
                <a:spcPts val="300"/>
              </a:spcAft>
            </a:pPr>
            <a:r>
              <a:rPr sz="950" b="0">
                <a:solidFill>
                  <a:srgbClr val="0F172A"/>
                </a:solidFill>
                <a:latin typeface="Arial"/>
              </a:rPr>
              <a:t>hallucination, tipping-off and
unauthorised filing blocked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365760" y="2743200"/>
            <a:ext cx="40690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>
              <a:spcAft>
                <a:spcPts val="300"/>
              </a:spcAft>
            </a:pPr>
            <a:r>
              <a:rPr sz="1200" b="1">
                <a:solidFill>
                  <a:srgbClr val="0B3D5C"/>
                </a:solidFill>
                <a:latin typeface="Arial"/>
              </a:rPr>
              <a:t>Expected outcomes (estimates)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365760" y="3035808"/>
            <a:ext cx="4069080" cy="17373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marL="146304" indent="-118872">
              <a:spcAft>
                <a:spcPts val="300"/>
              </a:spcAft>
              <a:buChar char="•"/>
            </a:pPr>
            <a:r>
              <a:rPr sz="1000" b="0">
                <a:solidFill>
                  <a:srgbClr val="0F172A"/>
                </a:solidFill>
                <a:latin typeface="Arial"/>
              </a:rPr>
              <a:t>Alert triage: evidence + policy in one screen, so far less time per alert spent switching between systems</a:t>
            </a:r>
          </a:p>
          <a:p>
            <a:pPr marL="146304" indent="-118872">
              <a:spcAft>
                <a:spcPts val="300"/>
              </a:spcAft>
              <a:buChar char="•"/>
            </a:pPr>
            <a:r>
              <a:rPr sz="1000" b="0">
                <a:solidFill>
                  <a:srgbClr val="0F172A"/>
                </a:solidFill>
                <a:latin typeface="Arial"/>
              </a:rPr>
              <a:t>STR first draft in under 2 minutes instead of hours; analysts review rather than write</a:t>
            </a:r>
          </a:p>
          <a:p>
            <a:pPr marL="146304" indent="-118872">
              <a:spcAft>
                <a:spcPts val="300"/>
              </a:spcAft>
              <a:buChar char="•"/>
            </a:pPr>
            <a:r>
              <a:rPr sz="1000" b="0">
                <a:solidFill>
                  <a:srgbClr val="0F172A"/>
                </a:solidFill>
                <a:latin typeface="Arial"/>
              </a:rPr>
              <a:t>Consistent answers: one governed metric definition used by every team and surface</a:t>
            </a:r>
          </a:p>
          <a:p>
            <a:pPr marL="146304" indent="-118872">
              <a:spcAft>
                <a:spcPts val="300"/>
              </a:spcAft>
              <a:buChar char="•"/>
            </a:pPr>
            <a:r>
              <a:rPr sz="1000" b="0">
                <a:solidFill>
                  <a:srgbClr val="0F172A"/>
                </a:solidFill>
                <a:latin typeface="Arial"/>
              </a:rPr>
              <a:t>Audit-ready by default: every number traceable to transactions and a policy clause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4709160" y="2743200"/>
            <a:ext cx="40690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>
              <a:spcAft>
                <a:spcPts val="300"/>
              </a:spcAft>
            </a:pPr>
            <a:r>
              <a:rPr sz="1200" b="1">
                <a:solidFill>
                  <a:srgbClr val="0B3D5C"/>
                </a:solidFill>
                <a:latin typeface="Arial"/>
              </a:rPr>
              <a:t>Scalability &amp; beyond the demo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4709160" y="3035808"/>
            <a:ext cx="4069080" cy="17373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marL="146304" indent="-118872">
              <a:spcAft>
                <a:spcPts val="300"/>
              </a:spcAft>
              <a:buChar char="•"/>
            </a:pPr>
            <a:r>
              <a:rPr sz="1000" b="0">
                <a:solidFill>
                  <a:srgbClr val="0F172A"/>
                </a:solidFill>
                <a:latin typeface="Arial"/>
              </a:rPr>
              <a:t>Snowflake-native: dynamic tables and Cortex scale with warehouse size, and data never leaves the platform</a:t>
            </a:r>
          </a:p>
          <a:p>
            <a:pPr marL="146304" indent="-118872">
              <a:spcAft>
                <a:spcPts val="300"/>
              </a:spcAft>
              <a:buChar char="•"/>
            </a:pPr>
            <a:r>
              <a:rPr sz="1000" b="0">
                <a:solidFill>
                  <a:srgbClr val="0F172A"/>
                </a:solidFill>
                <a:latin typeface="Arial"/>
              </a:rPr>
              <a:t>New typology = one SQL view + rulebook entry + test; ontology extends via the semantic views</a:t>
            </a:r>
          </a:p>
          <a:p>
            <a:pPr marL="146304" indent="-118872">
              <a:spcAft>
                <a:spcPts val="300"/>
              </a:spcAft>
              <a:buChar char="•"/>
            </a:pPr>
            <a:r>
              <a:rPr sz="1000" b="0">
                <a:solidFill>
                  <a:srgbClr val="0F172A"/>
                </a:solidFill>
                <a:latin typeface="Arial"/>
              </a:rPr>
              <a:t>Reusable CoCo skills and tools port to any bank: swap table names, keep the guardrails</a:t>
            </a:r>
          </a:p>
          <a:p>
            <a:pPr marL="146304" indent="-118872">
              <a:spcAft>
                <a:spcPts val="300"/>
              </a:spcAft>
              <a:buChar char="•"/>
            </a:pPr>
            <a:r>
              <a:rPr sz="1000" b="0">
                <a:solidFill>
                  <a:srgbClr val="0F172A"/>
                </a:solidFill>
                <a:latin typeface="Arial"/>
              </a:rPr>
              <a:t>Next: trade-finance (TBML) rules, ML anomaly scores, goAML XML export, Arabic UI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9" name="Google Shape;79;p17" title="Framewsxexexe 233.png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9144018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80" name="Title"/>
          <p:cNvSpPr txBox="1"/>
          <p:nvPr/>
        </p:nvSpPr>
        <p:spPr>
          <a:xfrm>
            <a:off x="365760" y="621792"/>
            <a:ext cx="8412480" cy="38404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B3D5C"/>
                </a:solidFill>
                <a:latin typeface="Arial"/>
              </a:rPr>
              <a:t>Additional · CoCo across the whole lifecycle</a:t>
            </a:r>
          </a:p>
        </p:txBody>
      </p:sp>
      <p:sp>
        <p:nvSpPr>
          <p:cNvPr id="81" name="Subtitle"/>
          <p:cNvSpPr txBox="1"/>
          <p:nvPr/>
        </p:nvSpPr>
        <p:spPr>
          <a:xfrm>
            <a:off x="365760" y="987552"/>
            <a:ext cx="84124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>
              <a:spcAft>
                <a:spcPts val="300"/>
              </a:spcAft>
            </a:pPr>
            <a:r>
              <a:rPr sz="1100" b="0">
                <a:solidFill>
                  <a:srgbClr val="475569"/>
                </a:solidFill>
                <a:latin typeface="Arial"/>
              </a:rPr>
              <a:t>Every phase runs as a CoCo prompt against Snowflake; sessions are the evidence (coco/EVIDENCE.md)</a:t>
            </a:r>
          </a:p>
        </p:txBody>
      </p:sp>
      <p:sp>
        <p:nvSpPr>
          <p:cNvPr id="82" name="Phase PLAN"/>
          <p:cNvSpPr/>
          <p:nvPr/>
        </p:nvSpPr>
        <p:spPr>
          <a:xfrm>
            <a:off x="365760" y="1371600"/>
            <a:ext cx="1984248" cy="178308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475488" y="1444752"/>
            <a:ext cx="17830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>
              <a:spcAft>
                <a:spcPts val="300"/>
              </a:spcAft>
            </a:pPr>
            <a:r>
              <a:rPr sz="1300" b="1">
                <a:solidFill>
                  <a:srgbClr val="0F766E"/>
                </a:solidFill>
                <a:latin typeface="Arial"/>
              </a:rPr>
              <a:t>PLAN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475488" y="1737360"/>
            <a:ext cx="1783080" cy="10972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>
              <a:spcAft>
                <a:spcPts val="300"/>
              </a:spcAft>
            </a:pPr>
            <a:r>
              <a:rPr sz="950" b="0">
                <a:solidFill>
                  <a:srgbClr val="0F172A"/>
                </a:solidFill>
                <a:latin typeface="Arial"/>
              </a:rPr>
              <a:t>Profile the data, frame personas, critique the data model / ontology / workflow, check rule ↔ policy thresholds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475488" y="2852928"/>
            <a:ext cx="1783080" cy="2286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>
              <a:spcAft>
                <a:spcPts val="300"/>
              </a:spcAft>
            </a:pPr>
            <a:r>
              <a:rPr sz="850" b="0">
                <a:solidFill>
                  <a:srgbClr val="475569"/>
                </a:solidFill>
                <a:latin typeface="Arial"/>
              </a:rPr>
              <a:t>coco/01_plan.md</a:t>
            </a:r>
          </a:p>
        </p:txBody>
      </p:sp>
      <p:sp>
        <p:nvSpPr>
          <p:cNvPr id="86" name="Phase BUILD"/>
          <p:cNvSpPr/>
          <p:nvPr/>
        </p:nvSpPr>
        <p:spPr>
          <a:xfrm>
            <a:off x="2505456" y="1371600"/>
            <a:ext cx="1984248" cy="178308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2615184" y="1444752"/>
            <a:ext cx="17830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>
              <a:spcAft>
                <a:spcPts val="300"/>
              </a:spcAft>
            </a:pPr>
            <a:r>
              <a:rPr sz="1300" b="1">
                <a:solidFill>
                  <a:srgbClr val="0F766E"/>
                </a:solidFill>
                <a:latin typeface="Arial"/>
              </a:rPr>
              <a:t>BUILD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2615184" y="1737360"/>
            <a:ext cx="1783080" cy="10972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>
              <a:spcAft>
                <a:spcPts val="300"/>
              </a:spcAft>
            </a:pPr>
            <a:r>
              <a:rPr sz="950" b="0">
                <a:solidFill>
                  <a:srgbClr val="0F172A"/>
                </a:solidFill>
                <a:latin typeface="Arial"/>
              </a:rPr>
              <a:t>Generate and load data, then build dynamic tables, 8 rules, PDF → Cortex Search, tools, semantic views, agent and app, fixing errors in the repo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2615184" y="2852928"/>
            <a:ext cx="1783080" cy="2286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>
              <a:spcAft>
                <a:spcPts val="300"/>
              </a:spcAft>
            </a:pPr>
            <a:r>
              <a:rPr sz="850" b="0">
                <a:solidFill>
                  <a:srgbClr val="475569"/>
                </a:solidFill>
                <a:latin typeface="Arial"/>
              </a:rPr>
              <a:t>coco/02_build.md</a:t>
            </a:r>
          </a:p>
        </p:txBody>
      </p:sp>
      <p:sp>
        <p:nvSpPr>
          <p:cNvPr id="90" name="Phase EXECUTE"/>
          <p:cNvSpPr/>
          <p:nvPr/>
        </p:nvSpPr>
        <p:spPr>
          <a:xfrm>
            <a:off x="4645152" y="1371600"/>
            <a:ext cx="1984248" cy="178308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4754880" y="1444752"/>
            <a:ext cx="17830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>
              <a:spcAft>
                <a:spcPts val="300"/>
              </a:spcAft>
            </a:pPr>
            <a:r>
              <a:rPr sz="1300" b="1">
                <a:solidFill>
                  <a:srgbClr val="0F766E"/>
                </a:solidFill>
                <a:latin typeface="Arial"/>
              </a:rPr>
              <a:t>EXECUTE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4754880" y="1737360"/>
            <a:ext cx="1783080" cy="10972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>
              <a:spcAft>
                <a:spcPts val="300"/>
              </a:spcAft>
            </a:pPr>
            <a:r>
              <a:rPr sz="950" b="0">
                <a:solidFill>
                  <a:srgbClr val="0F172A"/>
                </a:solidFill>
                <a:latin typeface="Arial"/>
              </a:rPr>
              <a:t>Inject live activity → new alert → case → STR → Slack/Jira via MCP; schedule tasks and CoCo runs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4754880" y="2852928"/>
            <a:ext cx="1783080" cy="2286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>
              <a:spcAft>
                <a:spcPts val="300"/>
              </a:spcAft>
            </a:pPr>
            <a:r>
              <a:rPr sz="850" b="0">
                <a:solidFill>
                  <a:srgbClr val="475569"/>
                </a:solidFill>
                <a:latin typeface="Arial"/>
              </a:rPr>
              <a:t>coco/03_execute.md</a:t>
            </a:r>
          </a:p>
        </p:txBody>
      </p:sp>
      <p:sp>
        <p:nvSpPr>
          <p:cNvPr id="94" name="Phase TEST"/>
          <p:cNvSpPr/>
          <p:nvPr/>
        </p:nvSpPr>
        <p:spPr>
          <a:xfrm>
            <a:off x="6784848" y="1371600"/>
            <a:ext cx="1984248" cy="178308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6894576" y="1444752"/>
            <a:ext cx="17830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>
              <a:spcAft>
                <a:spcPts val="300"/>
              </a:spcAft>
            </a:pPr>
            <a:r>
              <a:rPr sz="1300" b="1">
                <a:solidFill>
                  <a:srgbClr val="0F766E"/>
                </a:solidFill>
                <a:latin typeface="Arial"/>
              </a:rPr>
              <a:t>TEST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6894576" y="1737360"/>
            <a:ext cx="1783080" cy="10972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>
              <a:spcAft>
                <a:spcPts val="300"/>
              </a:spcAft>
            </a:pPr>
            <a:r>
              <a:rPr sz="950" b="0">
                <a:solidFill>
                  <a:srgbClr val="0F172A"/>
                </a:solidFill>
                <a:latin typeface="Arial"/>
              </a:rPr>
              <a:t>Recall and false-positive back-test, ontology consistency, masking / RBAC, guardrail and edge cases, golden eval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6894576" y="2852928"/>
            <a:ext cx="1783080" cy="2286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>
              <a:spcAft>
                <a:spcPts val="300"/>
              </a:spcAft>
            </a:pPr>
            <a:r>
              <a:rPr sz="850" b="0">
                <a:solidFill>
                  <a:srgbClr val="475569"/>
                </a:solidFill>
                <a:latin typeface="Arial"/>
              </a:rPr>
              <a:t>coco/04_test.md</a:t>
            </a:r>
          </a:p>
        </p:txBody>
      </p:sp>
      <p:sp>
        <p:nvSpPr>
          <p:cNvPr id="98" name="Fixes card"/>
          <p:cNvSpPr/>
          <p:nvPr/>
        </p:nvSpPr>
        <p:spPr>
          <a:xfrm>
            <a:off x="365760" y="3291840"/>
            <a:ext cx="4114800" cy="14813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502920" y="3346704"/>
            <a:ext cx="3886200" cy="25603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>
              <a:spcAft>
                <a:spcPts val="300"/>
              </a:spcAft>
            </a:pPr>
            <a:r>
              <a:rPr sz="1150" b="1">
                <a:solidFill>
                  <a:srgbClr val="0B3D5C"/>
                </a:solidFill>
                <a:latin typeface="Arial"/>
              </a:rPr>
              <a:t>Real fixes CoCo made on the live account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502920" y="3611880"/>
            <a:ext cx="3886200" cy="11430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marL="146304" indent="-118872">
              <a:spcAft>
                <a:spcPts val="300"/>
              </a:spcAft>
              <a:buChar char="•"/>
            </a:pPr>
            <a:r>
              <a:rPr sz="950" b="0">
                <a:solidFill>
                  <a:srgbClr val="0F172A"/>
                </a:solidFill>
                <a:latin typeface="Arial"/>
              </a:rPr>
              <a:t>Dynamic table over views → wrapped in DYNAMIC_TABLE_REFRESH_BOUNDARY</a:t>
            </a:r>
          </a:p>
          <a:p>
            <a:pPr marL="146304" indent="-118872">
              <a:spcAft>
                <a:spcPts val="300"/>
              </a:spcAft>
              <a:buChar char="•"/>
            </a:pPr>
            <a:r>
              <a:rPr sz="950" b="0">
                <a:solidFill>
                  <a:srgbClr val="0F172A"/>
                </a:solidFill>
                <a:latin typeface="Arial"/>
              </a:rPr>
              <a:t>Semantic view metric rules → rewrote ECL / coverage metrics</a:t>
            </a:r>
          </a:p>
          <a:p>
            <a:pPr marL="146304" indent="-118872">
              <a:spcAft>
                <a:spcPts val="300"/>
              </a:spcAft>
              <a:buChar char="•"/>
            </a:pPr>
            <a:r>
              <a:rPr sz="950" b="0">
                <a:solidFill>
                  <a:srgbClr val="0F172A"/>
                </a:solidFill>
                <a:latin typeface="Arial"/>
              </a:rPr>
              <a:t>No streams on FULL-refresh tables → poll-based alert router</a:t>
            </a:r>
          </a:p>
          <a:p>
            <a:pPr marL="146304" indent="-118872">
              <a:spcAft>
                <a:spcPts val="300"/>
              </a:spcAft>
              <a:buChar char="•"/>
            </a:pPr>
            <a:r>
              <a:rPr sz="950" b="0">
                <a:solidFill>
                  <a:srgbClr val="0F172A"/>
                </a:solidFill>
                <a:latin typeface="Arial"/>
              </a:rPr>
              <a:t>Masking needs Enterprise → secure view with role check</a:t>
            </a:r>
          </a:p>
        </p:txBody>
      </p:sp>
      <p:sp>
        <p:nvSpPr>
          <p:cNvPr id="101" name="Ingenuity card"/>
          <p:cNvSpPr/>
          <p:nvPr/>
        </p:nvSpPr>
        <p:spPr>
          <a:xfrm>
            <a:off x="4663440" y="3291840"/>
            <a:ext cx="4114800" cy="14813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TextBox 101"/>
          <p:cNvSpPr txBox="1"/>
          <p:nvPr/>
        </p:nvSpPr>
        <p:spPr>
          <a:xfrm>
            <a:off x="4800600" y="3346704"/>
            <a:ext cx="3886200" cy="25603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>
              <a:spcAft>
                <a:spcPts val="300"/>
              </a:spcAft>
            </a:pPr>
            <a:r>
              <a:rPr sz="1150" b="1">
                <a:solidFill>
                  <a:srgbClr val="0B3D5C"/>
                </a:solidFill>
                <a:latin typeface="Arial"/>
              </a:rPr>
              <a:t>Ingenuity in CoCo usage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4800600" y="3611880"/>
            <a:ext cx="3886200" cy="11430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>
              <a:spcAft>
                <a:spcPts val="300"/>
              </a:spcAft>
            </a:pPr>
            <a:r>
              <a:rPr sz="950" b="1">
                <a:solidFill>
                  <a:srgbClr val="0F172A"/>
                </a:solidFill>
                <a:latin typeface="Arial"/>
              </a:rPr>
              <a:t>5 skills, </a:t>
            </a:r>
            <a:r>
              <a:rPr sz="950" b="0">
                <a:solidFill>
                  <a:srgbClr val="0F172A"/>
                </a:solidFill>
                <a:latin typeface="Arial"/>
              </a:rPr>
              <a:t>3 subagents with HANDOFF + independent validation</a:t>
            </a:r>
          </a:p>
          <a:p>
            <a:pPr>
              <a:spcAft>
                <a:spcPts val="300"/>
              </a:spcAft>
            </a:pPr>
            <a:r>
              <a:rPr sz="950" b="1">
                <a:solidFill>
                  <a:srgbClr val="0F172A"/>
                </a:solidFill>
                <a:latin typeface="Arial"/>
              </a:rPr>
              <a:t>Plan → build: </a:t>
            </a:r>
            <a:r>
              <a:rPr sz="950" b="0">
                <a:solidFill>
                  <a:srgbClr val="0F172A"/>
                </a:solidFill>
                <a:latin typeface="Arial"/>
              </a:rPr>
              <a:t>CoCo's own review added the PIPELINE_HEALTH check</a:t>
            </a:r>
          </a:p>
          <a:p>
            <a:pPr>
              <a:spcAft>
                <a:spcPts val="300"/>
              </a:spcAft>
            </a:pPr>
            <a:r>
              <a:rPr sz="950" b="1">
                <a:solidFill>
                  <a:srgbClr val="0F172A"/>
                </a:solidFill>
                <a:latin typeface="Arial"/>
              </a:rPr>
              <a:t>MCP + schedules: </a:t>
            </a:r>
            <a:r>
              <a:rPr sz="950" b="0">
                <a:solidFill>
                  <a:srgbClr val="0F172A"/>
                </a:solidFill>
                <a:latin typeface="Arial"/>
              </a:rPr>
              <a:t>Slack / Jira dispatch, Snowflake tasks</a:t>
            </a:r>
          </a:p>
          <a:p>
            <a:pPr>
              <a:spcAft>
                <a:spcPts val="300"/>
              </a:spcAft>
            </a:pPr>
            <a:r>
              <a:rPr sz="950" b="1">
                <a:solidFill>
                  <a:srgbClr val="0F172A"/>
                </a:solidFill>
                <a:latin typeface="Arial"/>
              </a:rPr>
              <a:t>6 custom tools: </a:t>
            </a:r>
            <a:r>
              <a:rPr sz="950" b="0">
                <a:solidFill>
                  <a:srgbClr val="0F172A"/>
                </a:solidFill>
                <a:latin typeface="Arial"/>
              </a:rPr>
              <a:t>stored procedures the agent calls to act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9" name="Google Shape;79;p17" title="Framewsxexexe 233.png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9144018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80" name="Title"/>
          <p:cNvSpPr txBox="1"/>
          <p:nvPr/>
        </p:nvSpPr>
        <p:spPr>
          <a:xfrm>
            <a:off x="365760" y="621792"/>
            <a:ext cx="8412480" cy="38404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B3D5C"/>
                </a:solidFill>
                <a:latin typeface="Arial"/>
              </a:rPr>
              <a:t>Additional · Governed, explainable, and safe by construction</a:t>
            </a:r>
          </a:p>
        </p:txBody>
      </p:sp>
      <p:graphicFrame>
        <p:nvGraphicFramePr>
          <p:cNvPr id="81" name="Table 80"/>
          <p:cNvGraphicFramePr>
            <a:graphicFrameLocks noGrp="1"/>
          </p:cNvGraphicFramePr>
          <p:nvPr/>
        </p:nvGraphicFramePr>
        <p:xfrm>
          <a:off x="365760" y="1097280"/>
          <a:ext cx="4572000" cy="3611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5880"/>
                <a:gridCol w="3246120"/>
              </a:tblGrid>
              <a:tr h="401320"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Risk</a:t>
                      </a:r>
                    </a:p>
                  </a:txBody>
                  <a:tcPr marL="54864" marR="54864">
                    <a:solidFill>
                      <a:srgbClr val="0B3D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Control (enforced in code / Snowflake)</a:t>
                      </a:r>
                    </a:p>
                  </a:txBody>
                  <a:tcPr marL="54864" marR="54864">
                    <a:solidFill>
                      <a:srgbClr val="0B3D5C"/>
                    </a:solidFill>
                  </a:tcPr>
                </a:tc>
              </a:tr>
              <a:tr h="401320"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0F172A"/>
                          </a:solidFill>
                          <a:latin typeface="Arial"/>
                        </a:rPr>
                        <a:t>Hallucinated numbers</a:t>
                      </a:r>
                    </a:p>
                  </a:txBody>
                  <a:tcPr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0F172A"/>
                          </a:solidFill>
                          <a:latin typeface="Arial"/>
                        </a:rPr>
                        <a:t>Every AED amount reconciled to evidence; failing drafts cannot be filed</a:t>
                      </a:r>
                    </a:p>
                  </a:txBody>
                  <a:tcPr marL="54864" marR="54864">
                    <a:solidFill>
                      <a:srgbClr val="FFFFFF"/>
                    </a:solidFill>
                  </a:tcPr>
                </a:tc>
              </a:tr>
              <a:tr h="401320"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0F172A"/>
                          </a:solidFill>
                          <a:latin typeface="Arial"/>
                        </a:rPr>
                        <a:t>Fake citations</a:t>
                      </a:r>
                    </a:p>
                  </a:txBody>
                  <a:tcPr marL="54864" marR="54864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0F172A"/>
                          </a:solidFill>
                          <a:latin typeface="Arial"/>
                        </a:rPr>
                        <a:t>Cited chunk IDs must be among the retrieved policy passages</a:t>
                      </a:r>
                    </a:p>
                  </a:txBody>
                  <a:tcPr marL="54864" marR="54864">
                    <a:solidFill>
                      <a:srgbClr val="F1F5F9"/>
                    </a:solidFill>
                  </a:tcPr>
                </a:tc>
              </a:tr>
              <a:tr h="401320"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0F172A"/>
                          </a:solidFill>
                          <a:latin typeface="Arial"/>
                        </a:rPr>
                        <a:t>Tipping-off</a:t>
                      </a:r>
                    </a:p>
                  </a:txBody>
                  <a:tcPr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0F172A"/>
                          </a:solidFill>
                          <a:latin typeface="Arial"/>
                        </a:rPr>
                        <a:t>Language filter + agent instructions; flagged text removed</a:t>
                      </a:r>
                    </a:p>
                  </a:txBody>
                  <a:tcPr marL="54864" marR="54864">
                    <a:solidFill>
                      <a:srgbClr val="FFFFFF"/>
                    </a:solidFill>
                  </a:tcPr>
                </a:tc>
              </a:tr>
              <a:tr h="401320"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0F172A"/>
                          </a:solidFill>
                          <a:latin typeface="Arial"/>
                        </a:rPr>
                        <a:t>Unauthorised filing</a:t>
                      </a:r>
                    </a:p>
                  </a:txBody>
                  <a:tcPr marL="54864" marR="54864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0F172A"/>
                          </a:solidFill>
                          <a:latin typeface="Arial"/>
                        </a:rPr>
                        <a:t>Agent has no filing tool; APPROVE_REPORT needs RAQIB_MLRO</a:t>
                      </a:r>
                    </a:p>
                  </a:txBody>
                  <a:tcPr marL="54864" marR="54864">
                    <a:solidFill>
                      <a:srgbClr val="F1F5F9"/>
                    </a:solidFill>
                  </a:tcPr>
                </a:tc>
              </a:tr>
              <a:tr h="401320"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0F172A"/>
                          </a:solidFill>
                          <a:latin typeface="Arial"/>
                        </a:rPr>
                        <a:t>PII exposure</a:t>
                      </a:r>
                    </a:p>
                  </a:txBody>
                  <a:tcPr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0F172A"/>
                          </a:solidFill>
                          <a:latin typeface="Arial"/>
                        </a:rPr>
                        <a:t>Secure view masks Emirates ID / phone / email / DOB unless the MLRO role is active</a:t>
                      </a:r>
                    </a:p>
                  </a:txBody>
                  <a:tcPr marL="54864" marR="54864">
                    <a:solidFill>
                      <a:srgbClr val="FFFFFF"/>
                    </a:solidFill>
                  </a:tcPr>
                </a:tc>
              </a:tr>
              <a:tr h="401320"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0F172A"/>
                          </a:solidFill>
                          <a:latin typeface="Arial"/>
                        </a:rPr>
                        <a:t>Model outage</a:t>
                      </a:r>
                    </a:p>
                  </a:txBody>
                  <a:tcPr marL="54864" marR="54864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0F172A"/>
                          </a:solidFill>
                          <a:latin typeface="Arial"/>
                        </a:rPr>
                        <a:t>Primary → fallback model → deterministic template</a:t>
                      </a:r>
                    </a:p>
                  </a:txBody>
                  <a:tcPr marL="54864" marR="54864">
                    <a:solidFill>
                      <a:srgbClr val="F1F5F9"/>
                    </a:solidFill>
                  </a:tcPr>
                </a:tc>
              </a:tr>
              <a:tr h="401320"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0F172A"/>
                          </a:solidFill>
                          <a:latin typeface="Arial"/>
                        </a:rPr>
                        <a:t>Unknown entities</a:t>
                      </a:r>
                    </a:p>
                  </a:txBody>
                  <a:tcPr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0F172A"/>
                          </a:solidFill>
                          <a:latin typeface="Arial"/>
                        </a:rPr>
                        <a:t>Explicit "not found" (tested), never a guess</a:t>
                      </a:r>
                    </a:p>
                  </a:txBody>
                  <a:tcPr marL="54864" marR="54864">
                    <a:solidFill>
                      <a:srgbClr val="FFFFFF"/>
                    </a:solidFill>
                  </a:tcPr>
                </a:tc>
              </a:tr>
              <a:tr h="401320"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0F172A"/>
                          </a:solidFill>
                          <a:latin typeface="Arial"/>
                        </a:rPr>
                        <a:t>Oversight</a:t>
                      </a:r>
                    </a:p>
                  </a:txBody>
                  <a:tcPr marL="54864" marR="54864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0F172A"/>
                          </a:solidFill>
                          <a:latin typeface="Arial"/>
                        </a:rPr>
                        <a:t>AUDIT_LOG + COPILOT_AUDIT + EVAL_RESULTS in Snowflake</a:t>
                      </a:r>
                    </a:p>
                  </a:txBody>
                  <a:tcPr marL="54864" marR="54864"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  <p:pic>
        <p:nvPicPr>
          <p:cNvPr id="82" name="Picture 81" descr="crop_360_150_deck_st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0640" y="1097280"/>
            <a:ext cx="3657600" cy="1972235"/>
          </a:xfrm>
          <a:prstGeom prst="rect">
            <a:avLst/>
          </a:prstGeom>
          <a:ln w="9525">
            <a:solidFill>
              <a:srgbClr val="CBD5E1"/>
            </a:solidFill>
          </a:ln>
        </p:spPr>
      </p:pic>
      <p:sp>
        <p:nvSpPr>
          <p:cNvPr id="83" name="TextBox 82"/>
          <p:cNvSpPr txBox="1"/>
          <p:nvPr/>
        </p:nvSpPr>
        <p:spPr>
          <a:xfrm>
            <a:off x="5120640" y="3154680"/>
            <a:ext cx="3657600" cy="8229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>
              <a:spcAft>
                <a:spcPts val="300"/>
              </a:spcAft>
            </a:pPr>
            <a:r>
              <a:rPr sz="950" b="1">
                <a:solidFill>
                  <a:srgbClr val="475569"/>
                </a:solidFill>
                <a:latin typeface="Arial"/>
              </a:rPr>
              <a:t>Validated STR draft: </a:t>
            </a:r>
            <a:r>
              <a:rPr sz="950" b="0">
                <a:solidFill>
                  <a:srgbClr val="475569"/>
                </a:solidFill>
                <a:latin typeface="Arial"/>
              </a:rPr>
              <a:t>8/8 amounts reconciled, citations valid, tipping-off check clear. Only the MLRO can approve and file; a goAML reference is recorded and every step is logged.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9" name="Google Shape;79;p17" title="Framewsxexexe 233.png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9144018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80" name="Title"/>
          <p:cNvSpPr txBox="1"/>
          <p:nvPr/>
        </p:nvSpPr>
        <p:spPr>
          <a:xfrm>
            <a:off x="365760" y="621792"/>
            <a:ext cx="8412480" cy="38404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B3D5C"/>
                </a:solidFill>
                <a:latin typeface="Arial"/>
              </a:rPr>
              <a:t>Additional · Product walkthrough (Streamlit in Snowflake)</a:t>
            </a:r>
          </a:p>
        </p:txBody>
      </p:sp>
      <p:pic>
        <p:nvPicPr>
          <p:cNvPr id="81" name="Picture 80" descr="live_command_cen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097280"/>
            <a:ext cx="3419955" cy="3246120"/>
          </a:xfrm>
          <a:prstGeom prst="rect">
            <a:avLst/>
          </a:prstGeom>
          <a:ln w="9525">
            <a:solidFill>
              <a:srgbClr val="CBD5E1"/>
            </a:solidFill>
          </a:ln>
        </p:spPr>
      </p:pic>
      <p:sp>
        <p:nvSpPr>
          <p:cNvPr id="82" name="TextBox 81"/>
          <p:cNvSpPr txBox="1"/>
          <p:nvPr/>
        </p:nvSpPr>
        <p:spPr>
          <a:xfrm>
            <a:off x="365760" y="4389120"/>
            <a:ext cx="3419955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>
              <a:spcAft>
                <a:spcPts val="300"/>
              </a:spcAft>
            </a:pPr>
            <a:r>
              <a:rPr sz="950" b="0">
                <a:solidFill>
                  <a:srgbClr val="475569"/>
                </a:solidFill>
                <a:latin typeface="Arial"/>
              </a:rPr>
              <a:t>Live in Snowflake: Command Center reading the deployed pipeline (Live · Snowflake Cortex)</a:t>
            </a:r>
          </a:p>
        </p:txBody>
      </p:sp>
      <p:pic>
        <p:nvPicPr>
          <p:cNvPr id="83" name="Picture 82" descr="crop_380_395_deck_copilo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014315" y="1097280"/>
            <a:ext cx="4763924" cy="1643553"/>
          </a:xfrm>
          <a:prstGeom prst="rect">
            <a:avLst/>
          </a:prstGeom>
          <a:ln w="9525">
            <a:solidFill>
              <a:srgbClr val="CBD5E1"/>
            </a:solidFill>
          </a:ln>
        </p:spPr>
      </p:pic>
      <p:sp>
        <p:nvSpPr>
          <p:cNvPr id="84" name="TextBox 83"/>
          <p:cNvSpPr txBox="1"/>
          <p:nvPr/>
        </p:nvSpPr>
        <p:spPr>
          <a:xfrm>
            <a:off x="4014315" y="2759121"/>
            <a:ext cx="4763924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>
              <a:spcAft>
                <a:spcPts val="300"/>
              </a:spcAft>
            </a:pPr>
            <a:r>
              <a:rPr sz="950" b="0">
                <a:solidFill>
                  <a:srgbClr val="475569"/>
                </a:solidFill>
                <a:latin typeface="Arial"/>
              </a:rPr>
              <a:t>Copilot: governed answer with rules, score breakdown and policy citations</a:t>
            </a:r>
          </a:p>
        </p:txBody>
      </p:sp>
      <p:pic>
        <p:nvPicPr>
          <p:cNvPr id="85" name="Picture 84" descr="crop_360_285_deck_moneyflow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014315" y="3124881"/>
            <a:ext cx="4763924" cy="1284391"/>
          </a:xfrm>
          <a:prstGeom prst="rect">
            <a:avLst/>
          </a:prstGeom>
          <a:ln w="9525">
            <a:solidFill>
              <a:srgbClr val="CBD5E1"/>
            </a:solidFill>
          </a:ln>
        </p:spPr>
      </p:pic>
      <p:sp>
        <p:nvSpPr>
          <p:cNvPr id="86" name="TextBox 85"/>
          <p:cNvSpPr txBox="1"/>
          <p:nvPr/>
        </p:nvSpPr>
        <p:spPr>
          <a:xfrm>
            <a:off x="4014315" y="4427561"/>
            <a:ext cx="4763924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>
              <a:spcAft>
                <a:spcPts val="300"/>
              </a:spcAft>
            </a:pPr>
            <a:r>
              <a:rPr sz="950" b="0">
                <a:solidFill>
                  <a:srgbClr val="475569"/>
                </a:solidFill>
                <a:latin typeface="Arial"/>
              </a:rPr>
              <a:t>Investigate: why the alert fired, against the KYC profile and evidence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5" name="Google Shape;85;p18" title="timer 1 min cowsswedededexeco cli.png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9144018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86" name="Rounded Rectangle 85"/>
          <p:cNvSpPr/>
          <p:nvPr/>
        </p:nvSpPr>
        <p:spPr>
          <a:xfrm>
            <a:off x="457200" y="4160520"/>
            <a:ext cx="8229600" cy="685800"/>
          </a:xfrm>
          <a:prstGeom prst="roundRect">
            <a:avLst/>
          </a:prstGeom>
          <a:solidFill>
            <a:srgbClr val="0B1E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640080" y="4206240"/>
            <a:ext cx="7863840" cy="5943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>
              <a:spcAft>
                <a:spcPts val="300"/>
              </a:spcAft>
            </a:pPr>
            <a:r>
              <a:rPr sz="1100" b="1">
                <a:solidFill>
                  <a:srgbClr val="7DD3FC"/>
                </a:solidFill>
                <a:latin typeface="Arial"/>
              </a:rPr>
              <a:t>GitHub  </a:t>
            </a:r>
            <a:r>
              <a:rPr sz="1100" b="0">
                <a:solidFill>
                  <a:srgbClr val="FFFFFF"/>
                </a:solidFill>
                <a:latin typeface="Arial"/>
              </a:rPr>
              <a:t>github.com/ipavanreddy/raqib-snowflake-copilot</a:t>
            </a:r>
          </a:p>
          <a:p>
            <a:pPr>
              <a:spcAft>
                <a:spcPts val="300"/>
              </a:spcAft>
            </a:pPr>
            <a:r>
              <a:rPr sz="1100" b="1">
                <a:solidFill>
                  <a:srgbClr val="7DD3FC"/>
                </a:solidFill>
                <a:latin typeface="Arial"/>
              </a:rPr>
              <a:t>Live app  </a:t>
            </a:r>
            <a:r>
              <a:rPr sz="1100" b="0">
                <a:solidFill>
                  <a:srgbClr val="FFFFFF"/>
                </a:solidFill>
                <a:latin typeface="Arial"/>
              </a:rPr>
              <a:t>Streamlit in Snowflake · RAQIB.APP.RAQIB_APP (Snowsight login)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