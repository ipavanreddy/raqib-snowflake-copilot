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3" r:id="rId17"/>
    <p:sldId id="262" r:id="rId16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Spontom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Problem 1 — Risk, Fraud and Regulatory Intelligence Copilot  ·  Raqib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Pavan Kumar Vinnakota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4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1 · Problem brief: financial-crime and risk work is manual and siloed</a:t>
            </a:r>
          </a:p>
        </p:txBody>
      </p:sp>
      <p:sp>
        <p:nvSpPr>
          <p:cNvPr id="65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Banking &amp; NBFC (GCC) · AML/CFT, sanctions, fraud, Basel III liquidity, IFRS 9 credit risk</a:t>
            </a:r>
          </a:p>
        </p:txBody>
      </p:sp>
      <p:sp>
        <p:nvSpPr>
          <p:cNvPr id="66" name="Card Business problem"/>
          <p:cNvSpPr/>
          <p:nvPr/>
        </p:nvSpPr>
        <p:spPr>
          <a:xfrm>
            <a:off x="365760" y="1371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444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Business problem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1682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Analysts triage monitoring alerts across core-banking screens, policy PDFs and spreadsheets, write every STR from scratch, and build LCR / NPL reporting in Excel. Decisions are slow, inconsistent and hard to evidence for the regulator.</a:t>
            </a:r>
          </a:p>
        </p:txBody>
      </p:sp>
      <p:sp>
        <p:nvSpPr>
          <p:cNvPr id="69" name="Card Target users"/>
          <p:cNvSpPr/>
          <p:nvPr/>
        </p:nvSpPr>
        <p:spPr>
          <a:xfrm>
            <a:off x="365760" y="2514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2587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Target users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825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FCC analyst (triage and investigate) · MLRO (decide and file STRs) · Treasury / Risk (LCR, NPL) · Internal Audit and Model Risk (oversight).</a:t>
            </a:r>
          </a:p>
        </p:txBody>
      </p:sp>
      <p:sp>
        <p:nvSpPr>
          <p:cNvPr id="72" name="Card Industry context"/>
          <p:cNvSpPr/>
          <p:nvPr/>
        </p:nvSpPr>
        <p:spPr>
          <a:xfrm>
            <a:off x="365760" y="3657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730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Industry context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968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UAE AML/CFT framework (Federal Decree-Law 20/2018), goAML STR filing, tipping-off prohibition, internal AED 55,000 cash threshold, Basel III LCR ≥ 100%, IFRS 9 staging.</a:t>
            </a:r>
          </a:p>
        </p:txBody>
      </p: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4526280" y="1371600"/>
          <a:ext cx="4251960" cy="3355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1554480"/>
                <a:gridCol w="1737360"/>
              </a:tblGrid>
              <a:tr h="5593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With Raqib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Alert triage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5+ systems; policy looked up by hand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One evidence view + the governing clause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Explain a risk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Analyst writes SQL or raises a ticket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Plain-English question → governed answer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STR drafting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Written from scratch each time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Cited draft, amounts verified in code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LCR / NPL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Excel pack, days later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Live LCR trigger + NPL by sector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Audit trail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Emails and spreadsheets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Every question and tool action logged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2 · Architecture: one governed platform, end to end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24" y="1060704"/>
            <a:ext cx="6372352" cy="358444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72" name="TextBox 71"/>
          <p:cNvSpPr txBox="1"/>
          <p:nvPr/>
        </p:nvSpPr>
        <p:spPr>
          <a:xfrm>
            <a:off x="365760" y="4663440"/>
            <a:ext cx="84124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Data: structured core banking, digital, treasury and credit tables + unstructured policy PDFs. CoCo skills: synthetic-banking-data → aml-investigation → regulatory-report-drafter → copilot-eval → alert-dispatch.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3 · Impact: measured on the synthetic bank, built to scale</a:t>
            </a:r>
          </a:p>
        </p:txBody>
      </p:sp>
      <p:sp>
        <p:nvSpPr>
          <p:cNvPr id="76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Measured = CoCo test phase on the live Snowflake account (coco/EVIDENCE.md). Business outcomes are estimates for a pilot.</a:t>
            </a:r>
          </a:p>
        </p:txBody>
      </p:sp>
      <p:sp>
        <p:nvSpPr>
          <p:cNvPr id="77" name="Stat 100%"/>
          <p:cNvSpPr/>
          <p:nvPr/>
        </p:nvSpPr>
        <p:spPr>
          <a:xfrm>
            <a:off x="365760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5488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488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recall on 42 planted
typology scenarios (8 rules)</a:t>
            </a:r>
          </a:p>
        </p:txBody>
      </p:sp>
      <p:sp>
        <p:nvSpPr>
          <p:cNvPr id="80" name="Stat ≤ 1"/>
          <p:cNvSpPr/>
          <p:nvPr/>
        </p:nvSpPr>
        <p:spPr>
          <a:xfrm>
            <a:off x="2505456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15184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≤ 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5184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false-positive alert per
rule on 2,150 customers</a:t>
            </a:r>
          </a:p>
        </p:txBody>
      </p:sp>
      <p:sp>
        <p:nvSpPr>
          <p:cNvPr id="83" name="Stat 10 / 10"/>
          <p:cNvSpPr/>
          <p:nvPr/>
        </p:nvSpPr>
        <p:spPr>
          <a:xfrm>
            <a:off x="4645152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54880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 / 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0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golden questions passed by
the live Cortex Agent</a:t>
            </a:r>
          </a:p>
        </p:txBody>
      </p:sp>
      <p:sp>
        <p:nvSpPr>
          <p:cNvPr id="86" name="Stat 3 / 3"/>
          <p:cNvSpPr/>
          <p:nvPr/>
        </p:nvSpPr>
        <p:spPr>
          <a:xfrm>
            <a:off x="6784848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94576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94576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hallucination, tipping-off and
unauthorised filing blocked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Expected outcomes (estimates)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Alert triage: evidence + policy in one screen, so far less time per alert spent switching between systems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STR first draft in under 2 minutes instead of hours; analysts review rather than write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Consistent answers: one governed metric definition used by every team and surface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Audit-ready by default: every number traceable to transactions and a policy clause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091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Scalability &amp; beyond the demo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091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Snowflake-native: dynamic tables and Cortex scale with warehouse size, and data never leaves the platform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New typology = one SQL view + rulebook entry + test; ontology extends via the semantic views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Reusable CoCo skills and tools port to any bank: swap table names, keep the guardrails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Next: trade-finance (TBML) rules, ML anomaly scores, goAML XML export, Arabic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CoCo across the whole lifecycle</a:t>
            </a:r>
          </a:p>
        </p:txBody>
      </p:sp>
      <p:sp>
        <p:nvSpPr>
          <p:cNvPr id="81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Every phase runs as a CoCo prompt against Snowflake; sessions are the evidence (coco/EVIDENCE.md)</a:t>
            </a:r>
          </a:p>
        </p:txBody>
      </p:sp>
      <p:sp>
        <p:nvSpPr>
          <p:cNvPr id="82" name="Phase PLAN"/>
          <p:cNvSpPr/>
          <p:nvPr/>
        </p:nvSpPr>
        <p:spPr>
          <a:xfrm>
            <a:off x="365760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5488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Profile the data, frame personas, critique the data model / ontology / workflow, check rule ↔ policy thresholds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coco/01_plan.md</a:t>
            </a:r>
          </a:p>
        </p:txBody>
      </p:sp>
      <p:sp>
        <p:nvSpPr>
          <p:cNvPr id="86" name="Phase BUILD"/>
          <p:cNvSpPr/>
          <p:nvPr/>
        </p:nvSpPr>
        <p:spPr>
          <a:xfrm>
            <a:off x="2505456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15184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BUILD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615184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Generate and load data, then build dynamic tables, 8 rules, PDF → Cortex Search, tools, semantic views, agent and app, fixing errors in the repo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15184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coco/02_build.md</a:t>
            </a:r>
          </a:p>
        </p:txBody>
      </p:sp>
      <p:sp>
        <p:nvSpPr>
          <p:cNvPr id="90" name="Phase EXECUTE"/>
          <p:cNvSpPr/>
          <p:nvPr/>
        </p:nvSpPr>
        <p:spPr>
          <a:xfrm>
            <a:off x="4645152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0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EXECUTE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54880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Inject live structuring → 2 alerts + notification → skill-led investigation → case → STR (28/28 amounts reconciled) → LCR report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coco/03_execute.md</a:t>
            </a:r>
          </a:p>
        </p:txBody>
      </p:sp>
      <p:sp>
        <p:nvSpPr>
          <p:cNvPr id="94" name="Phase TEST"/>
          <p:cNvSpPr/>
          <p:nvPr/>
        </p:nvSpPr>
        <p:spPr>
          <a:xfrm>
            <a:off x="6784848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94576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TEST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94576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8/8 checks PASS live: 42/42 recall, ≤1 FP per rule, ontology 8/8, RBAC 5/5, guardrails 4/4, golden eval 10/10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94576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coco/04_test.md</a:t>
            </a:r>
          </a:p>
        </p:txBody>
      </p:sp>
      <p:sp>
        <p:nvSpPr>
          <p:cNvPr id="98" name="Fixes card"/>
          <p:cNvSpPr/>
          <p:nvPr/>
        </p:nvSpPr>
        <p:spPr>
          <a:xfrm>
            <a:off x="365760" y="3291840"/>
            <a:ext cx="411480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3346704"/>
            <a:ext cx="3886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3D5C"/>
                </a:solidFill>
                <a:latin typeface="Arial"/>
              </a:rPr>
              <a:t>Real fixes CoCo made on the live account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611880"/>
            <a:ext cx="38862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Dynamic table over views → wrapped in DYNAMIC_TABLE_REFRESH_BOUNDARY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Semantic view metric rules → rewrote ECL / coverage metrics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No streams on FULL-refresh tables → poll-based alert router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Masking needs Enterprise → secure view with role check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No _snowflake in container runtime → agent via DATA_AGENT_RUN</a:t>
            </a:r>
          </a:p>
        </p:txBody>
      </p:sp>
      <p:sp>
        <p:nvSpPr>
          <p:cNvPr id="101" name="Ingenuity card"/>
          <p:cNvSpPr/>
          <p:nvPr/>
        </p:nvSpPr>
        <p:spPr>
          <a:xfrm>
            <a:off x="4663440" y="3291840"/>
            <a:ext cx="411480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00600" y="3346704"/>
            <a:ext cx="3886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3D5C"/>
                </a:solidFill>
                <a:latin typeface="Arial"/>
              </a:rPr>
              <a:t>Ingenuity in CoCo usage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00600" y="3611880"/>
            <a:ext cx="38862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5 skills, </a:t>
            </a:r>
            <a:r>
              <a:rPr sz="950" b="0">
                <a:solidFill>
                  <a:srgbClr val="0F172A"/>
                </a:solidFill>
                <a:latin typeface="Arial"/>
              </a:rPr>
              <a:t>3 subagents with HANDOFF + independent validation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Plan → build: </a:t>
            </a:r>
            <a:r>
              <a:rPr sz="950" b="0">
                <a:solidFill>
                  <a:srgbClr val="0F172A"/>
                </a:solidFill>
                <a:latin typeface="Arial"/>
              </a:rPr>
              <a:t>CoCo's own review added the PIPELINE_HEALTH check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Schedules + MCP: </a:t>
            </a:r>
            <a:r>
              <a:rPr sz="950" b="0">
                <a:solidFill>
                  <a:srgbClr val="0F172A"/>
                </a:solidFill>
                <a:latin typeface="Arial"/>
              </a:rPr>
              <a:t>3 live Snowflake tasks; Slack / Jira dispatch skill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6 custom tools: </a:t>
            </a:r>
            <a:r>
              <a:rPr sz="950" b="0">
                <a:solidFill>
                  <a:srgbClr val="0F172A"/>
                </a:solidFill>
                <a:latin typeface="Arial"/>
              </a:rPr>
              <a:t>stored procedures the agent calls to 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Governed, explainable, and safe by construction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65760" y="1097280"/>
          <a:ext cx="457200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246120"/>
              </a:tblGrid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Control (enforced in code / Snowflake)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Hallucinated numbers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Every AED amount reconciled to evidence; failing drafts cannot be filed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Fake citations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Cited chunk IDs must be among the retrieved policy passages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Tipping-off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Language filter + agent instructions; flagged text removed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Unauthorised filing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Agent has no filing tool; APPROVE_REPORT needs RAQIB_MLRO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PII exposure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Secure view masks Emirates ID / phone / email / DOB unless the MLRO role is active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Model outage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Primary → fallback model → deterministic template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Unknown entities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Explicit "not found" (tested), never a guess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Oversight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AUDIT_LOG + COPILOT_AUDIT + EVAL_RESULTS in Snowflake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82" name="Picture 81" descr="crop_360_150_deck_s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97280"/>
            <a:ext cx="3657600" cy="197223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3" name="TextBox 82"/>
          <p:cNvSpPr txBox="1"/>
          <p:nvPr/>
        </p:nvSpPr>
        <p:spPr>
          <a:xfrm>
            <a:off x="5120640" y="315468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475569"/>
                </a:solidFill>
                <a:latin typeface="Arial"/>
              </a:rPr>
              <a:t>Validated STR draft: </a:t>
            </a:r>
            <a:r>
              <a:rPr sz="950" b="0">
                <a:solidFill>
                  <a:srgbClr val="475569"/>
                </a:solidFill>
                <a:latin typeface="Arial"/>
              </a:rPr>
              <a:t>8/8 amounts reconciled, citations valid, tipping-off check clear. Only the MLRO can approve and file; a goAML reference is recorded and every step is logged.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Product walkthrough (Streamlit in Snowflake)</a:t>
            </a:r>
          </a:p>
        </p:txBody>
      </p:sp>
      <p:pic>
        <p:nvPicPr>
          <p:cNvPr id="81" name="Picture 80" descr="live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3419955" cy="324612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2" name="TextBox 81"/>
          <p:cNvSpPr txBox="1"/>
          <p:nvPr/>
        </p:nvSpPr>
        <p:spPr>
          <a:xfrm>
            <a:off x="365760" y="4389120"/>
            <a:ext cx="341995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Live in Snowflake: Command Center reading the deployed pipeline (Live · Snowflake Cortex)</a:t>
            </a:r>
          </a:p>
        </p:txBody>
      </p:sp>
      <p:pic>
        <p:nvPicPr>
          <p:cNvPr id="83" name="Picture 82" descr="crop_380_395_deck_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4315" y="1097280"/>
            <a:ext cx="4763924" cy="1643553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4014315" y="2759121"/>
            <a:ext cx="47639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Copilot: governed answer with rules, score breakdown and policy citations</a:t>
            </a:r>
          </a:p>
        </p:txBody>
      </p:sp>
      <p:pic>
        <p:nvPicPr>
          <p:cNvPr id="85" name="Picture 84" descr="crop_360_285_deck_money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4315" y="3124881"/>
            <a:ext cx="4763924" cy="1284391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6" name="TextBox 85"/>
          <p:cNvSpPr txBox="1"/>
          <p:nvPr/>
        </p:nvSpPr>
        <p:spPr>
          <a:xfrm>
            <a:off x="4014315" y="4427561"/>
            <a:ext cx="47639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Investigate: why the alert fired, against the KYC profile and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Rounded Rectangle 85"/>
          <p:cNvSpPr/>
          <p:nvPr/>
        </p:nvSpPr>
        <p:spPr>
          <a:xfrm>
            <a:off x="457200" y="4224528"/>
            <a:ext cx="8229600" cy="841248"/>
          </a:xfrm>
          <a:prstGeom prst="roundRect">
            <a:avLst/>
          </a:prstGeom>
          <a:solidFill>
            <a:srgbClr val="0B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4261104"/>
            <a:ext cx="7863840" cy="7680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7DD3FC"/>
                </a:solidFill>
                <a:latin typeface="Arial"/>
              </a:rPr>
              <a:t>Public demo  </a:t>
            </a:r>
            <a:r>
              <a:rPr sz="1050" b="0">
                <a:solidFill>
                  <a:srgbClr val="FFFFFF"/>
                </a:solidFill>
                <a:latin typeface="Arial"/>
              </a:rPr>
              <a:t>raqib-copilot.streamlit.app</a:t>
            </a:r>
            <a:r>
              <a:rPr sz="1050" b="0">
                <a:solidFill>
                  <a:srgbClr val="CBD5E1"/>
                </a:solidFill>
                <a:latin typeface="Arial"/>
              </a:rPr>
              <a:t>  (no login, offline replica)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7DD3FC"/>
                </a:solidFill>
                <a:latin typeface="Arial"/>
              </a:rPr>
              <a:t>GitHub  </a:t>
            </a:r>
            <a:r>
              <a:rPr sz="1050" b="0">
                <a:solidFill>
                  <a:srgbClr val="FFFFFF"/>
                </a:solidFill>
                <a:latin typeface="Arial"/>
              </a:rPr>
              <a:t>github.com/ipavanreddy/raqib-snowflake-copilot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7DD3FC"/>
                </a:solidFill>
                <a:latin typeface="Arial"/>
              </a:rPr>
              <a:t>Live app  </a:t>
            </a:r>
            <a:r>
              <a:rPr sz="1050" b="0">
                <a:solidFill>
                  <a:srgbClr val="FFFFFF"/>
                </a:solidFill>
                <a:latin typeface="Arial"/>
              </a:rPr>
              <a:t>Streamlit in Snowflake · RAQIB.APP.RAQIB_APP (Snowsight login)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